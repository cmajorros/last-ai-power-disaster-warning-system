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5195b1ec524981" /><Relationship Type="http://schemas.openxmlformats.org/officeDocument/2006/relationships/extended-properties" Target="/docProps/app.xml" Id="R811ca70c921f4c1a" /><Relationship Type="http://schemas.openxmlformats.org/officeDocument/2006/relationships/officeDocument" Target="/ppt/presentation.xml" Id="R3e300fe280b747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575899042c44bc"/>
  </p:sldMasterIdLst>
  <p:notesMasterIdLst>
    <p:notesMasterId xmlns:r="http://schemas.openxmlformats.org/officeDocument/2006/relationships" r:id="R9424c1cdf1b24e6e"/>
  </p:notesMasterIdLst>
  <p:sldIdLst>
    <p:sldId xmlns:r="http://schemas.openxmlformats.org/officeDocument/2006/relationships" id="256" r:id="Ra1dcd73e73444a9b"/>
    <p:sldId xmlns:r="http://schemas.openxmlformats.org/officeDocument/2006/relationships" id="257" r:id="R2720e59278bf493f"/>
    <p:sldId xmlns:r="http://schemas.openxmlformats.org/officeDocument/2006/relationships" id="258" r:id="R77e50869076b480e"/>
    <p:sldId xmlns:r="http://schemas.openxmlformats.org/officeDocument/2006/relationships" id="259" r:id="R4d30813991fe4605"/>
    <p:sldId xmlns:r="http://schemas.openxmlformats.org/officeDocument/2006/relationships" id="260" r:id="R25f058a597214026"/>
    <p:sldId xmlns:r="http://schemas.openxmlformats.org/officeDocument/2006/relationships" id="261" r:id="Ra8a5228c611d47ab"/>
    <p:sldId xmlns:r="http://schemas.openxmlformats.org/officeDocument/2006/relationships" id="262" r:id="R8057d874467d4a7b"/>
    <p:sldId xmlns:r="http://schemas.openxmlformats.org/officeDocument/2006/relationships" id="263" r:id="R93233d5f691b4f7c"/>
    <p:sldId xmlns:r="http://schemas.openxmlformats.org/officeDocument/2006/relationships" id="264" r:id="Rb8a7693aec024a74"/>
    <p:sldId xmlns:r="http://schemas.openxmlformats.org/officeDocument/2006/relationships" id="265" r:id="R476b80b99b94416b"/>
    <p:sldId xmlns:r="http://schemas.openxmlformats.org/officeDocument/2006/relationships" id="266" r:id="Rf953fe0566984106"/>
    <p:sldId xmlns:r="http://schemas.openxmlformats.org/officeDocument/2006/relationships" id="267" r:id="Rd58e889ad4b64d0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17c8235f01402e" /><Relationship Type="http://schemas.openxmlformats.org/officeDocument/2006/relationships/slideMaster" Target="/ppt/slideMasters/slideMaster1.xml" Id="Rf4575899042c44bc" /><Relationship Type="http://schemas.openxmlformats.org/officeDocument/2006/relationships/notesMaster" Target="/ppt/notesMasters/notesMaster1.xml" Id="R9424c1cdf1b24e6e" /><Relationship Type="http://schemas.openxmlformats.org/officeDocument/2006/relationships/presProps" Target="/ppt/presProps.xml" Id="R6f0cb4ced3e84632" /><Relationship Type="http://schemas.openxmlformats.org/officeDocument/2006/relationships/viewProps" Target="/ppt/viewProps.xml" Id="R97d13965ed604e87" /><Relationship Type="http://schemas.openxmlformats.org/officeDocument/2006/relationships/tableStyles" Target="/ppt/tableStyles.xml" Id="R09c8ff20d8b940a7" /><Relationship Type="http://schemas.openxmlformats.org/officeDocument/2006/relationships/slide" Target="/ppt/slides/slide1.xml" Id="Ra1dcd73e73444a9b" /><Relationship Type="http://schemas.openxmlformats.org/officeDocument/2006/relationships/slide" Target="/ppt/slides/slide2.xml" Id="R2720e59278bf493f" /><Relationship Type="http://schemas.openxmlformats.org/officeDocument/2006/relationships/slide" Target="/ppt/slides/slide3.xml" Id="R77e50869076b480e" /><Relationship Type="http://schemas.openxmlformats.org/officeDocument/2006/relationships/slide" Target="/ppt/slides/slide4.xml" Id="R4d30813991fe4605" /><Relationship Type="http://schemas.openxmlformats.org/officeDocument/2006/relationships/slide" Target="/ppt/slides/slide5.xml" Id="R25f058a597214026" /><Relationship Type="http://schemas.openxmlformats.org/officeDocument/2006/relationships/slide" Target="/ppt/slides/slide6.xml" Id="Ra8a5228c611d47ab" /><Relationship Type="http://schemas.openxmlformats.org/officeDocument/2006/relationships/slide" Target="/ppt/slides/slide7.xml" Id="R8057d874467d4a7b" /><Relationship Type="http://schemas.openxmlformats.org/officeDocument/2006/relationships/slide" Target="/ppt/slides/slide8.xml" Id="R93233d5f691b4f7c" /><Relationship Type="http://schemas.openxmlformats.org/officeDocument/2006/relationships/slide" Target="/ppt/slides/slide9.xml" Id="Rb8a7693aec024a74" /><Relationship Type="http://schemas.openxmlformats.org/officeDocument/2006/relationships/slide" Target="/ppt/slides/slide10.xml" Id="R476b80b99b94416b" /><Relationship Type="http://schemas.openxmlformats.org/officeDocument/2006/relationships/slide" Target="/ppt/slides/slide11.xml" Id="Rf953fe0566984106" /><Relationship Type="http://schemas.openxmlformats.org/officeDocument/2006/relationships/slide" Target="/ppt/slides/slide12.xml" Id="Rd58e889ad4b64d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25474e8f9245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9b695d77ca42f3" /><Relationship Type="http://schemas.openxmlformats.org/officeDocument/2006/relationships/notesMaster" Target="/ppt/notesMasters/notesMaster1.xml" Id="R8f7f336d093744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cfa94cdb3849eb" /><Relationship Type="http://schemas.openxmlformats.org/officeDocument/2006/relationships/notesMaster" Target="/ppt/notesMasters/notesMaster1.xml" Id="R4f335bbffb9442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9fdfe55f674585" /><Relationship Type="http://schemas.openxmlformats.org/officeDocument/2006/relationships/notesMaster" Target="/ppt/notesMasters/notesMaster1.xml" Id="Ree33f403ecf14c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4c4b9af9fa4fc1" /><Relationship Type="http://schemas.openxmlformats.org/officeDocument/2006/relationships/notesMaster" Target="/ppt/notesMasters/notesMaster1.xml" Id="R28956b559ad949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aa823f192f4996" /><Relationship Type="http://schemas.openxmlformats.org/officeDocument/2006/relationships/notesMaster" Target="/ppt/notesMasters/notesMaster1.xml" Id="R504969cf2ce34c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e0f447e39d4244" /><Relationship Type="http://schemas.openxmlformats.org/officeDocument/2006/relationships/notesMaster" Target="/ppt/notesMasters/notesMaster1.xml" Id="R94c6a6fa4a5441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c7fd94eba74491" /><Relationship Type="http://schemas.openxmlformats.org/officeDocument/2006/relationships/notesMaster" Target="/ppt/notesMasters/notesMaster1.xml" Id="Rcf63c031b8a44f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b7abfd2cf54276" /><Relationship Type="http://schemas.openxmlformats.org/officeDocument/2006/relationships/notesMaster" Target="/ppt/notesMasters/notesMaster1.xml" Id="R7fd064dc7e3a46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18751d78114b85" /><Relationship Type="http://schemas.openxmlformats.org/officeDocument/2006/relationships/notesMaster" Target="/ppt/notesMasters/notesMaster1.xml" Id="R4a4a09708cee4b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dee380a43d4fc3" /><Relationship Type="http://schemas.openxmlformats.org/officeDocument/2006/relationships/notesMaster" Target="/ppt/notesMasters/notesMaster1.xml" Id="R9433f152a3194a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daee0e6ac14335" /><Relationship Type="http://schemas.openxmlformats.org/officeDocument/2006/relationships/notesMaster" Target="/ppt/notesMasters/notesMaster1.xml" Id="Rc06fe65eb1904a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00bfac31b843ab" /><Relationship Type="http://schemas.openxmlformats.org/officeDocument/2006/relationships/notesMaster" Target="/ppt/notesMasters/notesMaster1.xml" Id="Rca0bccf1867e4f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521abd8d44c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0d0acb30ce4ef4" /><Relationship Type="http://schemas.openxmlformats.org/officeDocument/2006/relationships/slideLayout" Target="/ppt/slideLayouts/slideLayout1.xml" Id="R58d7fe53d8e64b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d7fe53d8e64b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d118d37aa435c" /><Relationship Type="http://schemas.openxmlformats.org/officeDocument/2006/relationships/image" Target="/ppt/media/image.png" Id="Rc8844b82cf7c49e3" /><Relationship Type="http://schemas.openxmlformats.org/officeDocument/2006/relationships/image" Target="/ppt/media/image.svg" Id="R0b7cf8e0a7374ce3" /><Relationship Type="http://schemas.openxmlformats.org/officeDocument/2006/relationships/notesSlide" Target="/ppt/notesSlides/notesSlide1.xml" Id="R57c896fbb14745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6e2551bfc498f" /><Relationship Type="http://schemas.openxmlformats.org/officeDocument/2006/relationships/image" Target="/ppt/media/image2.png" Id="R5a4a7922d8084d8e" /><Relationship Type="http://schemas.openxmlformats.org/officeDocument/2006/relationships/image" Target="/ppt/media/image2.svg" Id="R98b0a2c6e0744f2f" /><Relationship Type="http://schemas.openxmlformats.org/officeDocument/2006/relationships/image" Target="/ppt/media/image3.png" Id="R62e8a9013a6b444f" /><Relationship Type="http://schemas.openxmlformats.org/officeDocument/2006/relationships/image" Target="/ppt/media/image3.svg" Id="Re5d25a681c6e46aa" /><Relationship Type="http://schemas.openxmlformats.org/officeDocument/2006/relationships/image" Target="/ppt/media/image4.png" Id="R4b6e4f8798ef48c6" /><Relationship Type="http://schemas.openxmlformats.org/officeDocument/2006/relationships/image" Target="/ppt/media/image4.svg" Id="R4c1da5407edc4153" /><Relationship Type="http://schemas.openxmlformats.org/officeDocument/2006/relationships/notesSlide" Target="/ppt/notesSlides/notesSlide2.xml" Id="R19a9ccfc9a6b4d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dbd5fbb38488f" /><Relationship Type="http://schemas.openxmlformats.org/officeDocument/2006/relationships/image" Target="/ppt/media/image5.png" Id="Rdd01b382d8074bfd" /><Relationship Type="http://schemas.openxmlformats.org/officeDocument/2006/relationships/image" Target="/ppt/media/image5.svg" Id="R08bf1dda57224417" /><Relationship Type="http://schemas.openxmlformats.org/officeDocument/2006/relationships/image" Target="/ppt/media/image6.png" Id="R138bcd53d2004f2f" /><Relationship Type="http://schemas.openxmlformats.org/officeDocument/2006/relationships/image" Target="/ppt/media/image6.svg" Id="R98e021d06d5f42db" /><Relationship Type="http://schemas.openxmlformats.org/officeDocument/2006/relationships/image" Target="/ppt/media/image7.png" Id="Rb35204ee93694ac1" /><Relationship Type="http://schemas.openxmlformats.org/officeDocument/2006/relationships/image" Target="/ppt/media/image7.svg" Id="R28a2daec81824416" /><Relationship Type="http://schemas.openxmlformats.org/officeDocument/2006/relationships/image" Target="/ppt/media/image8.png" Id="R9fea1d4c8a60498c" /><Relationship Type="http://schemas.openxmlformats.org/officeDocument/2006/relationships/image" Target="/ppt/media/image8.svg" Id="Rc375508d8e414ddc" /><Relationship Type="http://schemas.openxmlformats.org/officeDocument/2006/relationships/image" Target="/ppt/media/image9.png" Id="R00d782cdc3eb4956" /><Relationship Type="http://schemas.openxmlformats.org/officeDocument/2006/relationships/image" Target="/ppt/media/image9.svg" Id="R0acea22fe1a442bb" /><Relationship Type="http://schemas.openxmlformats.org/officeDocument/2006/relationships/notesSlide" Target="/ppt/notesSlides/notesSlide3.xml" Id="Ra002446b305d4e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0f244ab254fa4" /><Relationship Type="http://schemas.openxmlformats.org/officeDocument/2006/relationships/image" Target="/ppt/media/image10.png" Id="R2ede60f940de4750" /><Relationship Type="http://schemas.openxmlformats.org/officeDocument/2006/relationships/image" Target="/ppt/media/image10.svg" Id="Ra11ead96b51f4414" /><Relationship Type="http://schemas.openxmlformats.org/officeDocument/2006/relationships/image" Target="/ppt/media/image11.png" Id="R079cc67212c24ec1" /><Relationship Type="http://schemas.openxmlformats.org/officeDocument/2006/relationships/image" Target="/ppt/media/image11.svg" Id="R92f7ba8c20bc4a4b" /><Relationship Type="http://schemas.openxmlformats.org/officeDocument/2006/relationships/notesSlide" Target="/ppt/notesSlides/notesSlide4.xml" Id="R9d0caa7270d741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8fa6602e84385" /><Relationship Type="http://schemas.openxmlformats.org/officeDocument/2006/relationships/notesSlide" Target="/ppt/notesSlides/notesSlide5.xml" Id="Radf521d5998047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052dc02ec4fd4" /><Relationship Type="http://schemas.openxmlformats.org/officeDocument/2006/relationships/image" Target="/ppt/media/image12.png" Id="Ra5584396e46d4596" /><Relationship Type="http://schemas.openxmlformats.org/officeDocument/2006/relationships/image" Target="/ppt/media/image12.svg" Id="R62625a21676146c4" /><Relationship Type="http://schemas.openxmlformats.org/officeDocument/2006/relationships/image" Target="/ppt/media/image13.png" Id="R5313d7433c5e442f" /><Relationship Type="http://schemas.openxmlformats.org/officeDocument/2006/relationships/image" Target="/ppt/media/image13.svg" Id="Raec1bb034aec4b9d" /><Relationship Type="http://schemas.openxmlformats.org/officeDocument/2006/relationships/notesSlide" Target="/ppt/notesSlides/notesSlide6.xml" Id="R2b697a0353234a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1e7bffa9341c9" /><Relationship Type="http://schemas.openxmlformats.org/officeDocument/2006/relationships/notesSlide" Target="/ppt/notesSlides/notesSlide7.xml" Id="R4b56a7dff03843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19eab306143ea" /><Relationship Type="http://schemas.openxmlformats.org/officeDocument/2006/relationships/image" Target="/ppt/media/image14.png" Id="Rd2f7d74fb79f4993" /><Relationship Type="http://schemas.openxmlformats.org/officeDocument/2006/relationships/image" Target="/ppt/media/image14.svg" Id="R0645d997f501411c" /><Relationship Type="http://schemas.openxmlformats.org/officeDocument/2006/relationships/image" Target="/ppt/media/image15.png" Id="R4b7d5eb7178545cb" /><Relationship Type="http://schemas.openxmlformats.org/officeDocument/2006/relationships/image" Target="/ppt/media/image15.svg" Id="R268db0103a4a4530" /><Relationship Type="http://schemas.openxmlformats.org/officeDocument/2006/relationships/image" Target="/ppt/media/image16.png" Id="Rc1971b422a144e1f" /><Relationship Type="http://schemas.openxmlformats.org/officeDocument/2006/relationships/image" Target="/ppt/media/image16.svg" Id="R98517a7d6b8445e4" /><Relationship Type="http://schemas.openxmlformats.org/officeDocument/2006/relationships/notesSlide" Target="/ppt/notesSlides/notesSlide8.xml" Id="R338245d7bb2146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4261caec44c15" /><Relationship Type="http://schemas.openxmlformats.org/officeDocument/2006/relationships/image" Target="/ppt/media/image17.png" Id="R223f9619cee341a1" /><Relationship Type="http://schemas.openxmlformats.org/officeDocument/2006/relationships/image" Target="/ppt/media/image17.svg" Id="R3ff33868175440fe" /><Relationship Type="http://schemas.openxmlformats.org/officeDocument/2006/relationships/notesSlide" Target="/ppt/notesSlides/notesSlide9.xml" Id="Rc3cca7d4f3f249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7dca543884527" /><Relationship Type="http://schemas.openxmlformats.org/officeDocument/2006/relationships/image" Target="/ppt/media/image18.png" Id="Rc8fe86785ae14894" /><Relationship Type="http://schemas.openxmlformats.org/officeDocument/2006/relationships/image" Target="/ppt/media/image18.svg" Id="Rf20111af7f5f4a76" /><Relationship Type="http://schemas.openxmlformats.org/officeDocument/2006/relationships/image" Target="/ppt/media/image19.png" Id="Red34c0a341ec4d36" /><Relationship Type="http://schemas.openxmlformats.org/officeDocument/2006/relationships/image" Target="/ppt/media/image19.svg" Id="Rc0a7749432ea46fa" /><Relationship Type="http://schemas.openxmlformats.org/officeDocument/2006/relationships/image" Target="/ppt/media/image20.png" Id="R71948606fd344088" /><Relationship Type="http://schemas.openxmlformats.org/officeDocument/2006/relationships/image" Target="/ppt/media/image20.svg" Id="R5001dedabfae4480" /><Relationship Type="http://schemas.openxmlformats.org/officeDocument/2006/relationships/notesSlide" Target="/ppt/notesSlides/notesSlide10.xml" Id="R1bbf80773fe549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a0623924a4212" /><Relationship Type="http://schemas.openxmlformats.org/officeDocument/2006/relationships/notesSlide" Target="/ppt/notesSlides/notesSlide11.xml" Id="R81b2924a68b04a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6891696234a3f" /><Relationship Type="http://schemas.openxmlformats.org/officeDocument/2006/relationships/notesSlide" Target="/ppt/notesSlides/notesSlide12.xml" Id="R4e08dc3d0d05424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C3EF73-24CA-4C67-A020-4E94125B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0DFF7-F058-4A0C-A795-F6D9CAA6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D5F1D-4134-4A97-9AA4-D3782DD0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71542-1921-4BB1-B99A-2C967101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57B8D-5FEB-412C-8375-37E08787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BD743-9E1D-4CC4-893F-950912DC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742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water does not wait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1EEA4-84E0-46B8-AB62-D1AB8F80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B84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5B84B"/>
                </a:solidFill>
                <a:latin typeface="Aptos Display"/>
                <a:ea typeface="Aptos Display"/>
                <a:cs typeface="Aptos Display"/>
              </a:rPr>
              <a:t>for a message to be rewritten.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4B731-20A6-4C41-9664-F80426CA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An inclusive AI-powered disaster alert and last-mile communication platform for Laos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454EA-BEF3-481C-8515-D141FD4D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685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4BCB5-A2BB-419A-A11E-ECD5AD99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483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D9483B"/>
                </a:solidFill>
                <a:latin typeface="Aptos Display"/>
                <a:ea typeface="Aptos Display"/>
                <a:cs typeface="Aptos Display"/>
              </a:rPr>
              <a:t>Before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7898A-8CFB-47F1-910A-6B795E94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signals are scattered across emails, chats, files, and calls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8840B-2C0D-4FF8-B395-F7548DD3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4810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B84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5B84B"/>
                </a:solidFill>
                <a:latin typeface="Aptos Display"/>
                <a:ea typeface="Aptos Display"/>
                <a:cs typeface="Aptos Display"/>
              </a:rPr>
              <a:t>During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89F33-0FA8-4B28-A2F2-A971C635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4815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AI drafts, officials review, messages route by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933740-0C98-4FC7-9154-90975BAD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4810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CB87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3CB879"/>
                </a:solidFill>
                <a:latin typeface="Aptos Display"/>
                <a:ea typeface="Aptos Display"/>
                <a:cs typeface="Aptos Display"/>
              </a:rPr>
              <a:t>After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56EB50-E665-4FCD-820E-B623D5D8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481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delivery logs and volunteer acknowledgment prove reach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702716-D5F3-460A-8C90-74E9B905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19200"/>
            <a:ext cx="23431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4"/>
          </a:solidFill>
          <a:ln xmlns:a="http://schemas.openxmlformats.org/drawingml/2006/main" w="9525">
            <a:solidFill>
              <a:srgbClr val="D9483B"/>
            </a:solidFill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44b82cf7c49e3">
            <a:extLst>
              <a:ext uri="{96DAC541-7B7A-43D3-8B79-37D633B846F1}">
                <asvg:svgBlip xmlns:asvg="http://schemas.microsoft.com/office/drawing/2016/SVG/main" r:embed="R0b7cf8e0a7374c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772650" y="15621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5060C6-D27E-4C81-A5A1-1A6EEDD9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193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promise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9192C-9BD5-4F80-BC45-4D10CAD1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1940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 Lao crisis document becomes a reviewed alert, a routed message, and a recorded last-mile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92109B-1EA0-4934-B622-FAAD1D83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248150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313"/>
          </a:solidFill>
          <a:ln xmlns:a="http://schemas.openxmlformats.org/drawingml/2006/main" w="9525">
            <a:solidFill>
              <a:srgbClr val="F5B84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12929-FB88-49C0-8939-3CC28BCD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243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Built for everyone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28E15E-2F41-4C19-B00E-E539CB72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D4B7D4-21FF-4DBB-B948-139D0F2A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993595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93603C-17F4-4EA7-ACAF-4A018026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AC1B0-778B-4AAF-94B2-4DAB8721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27DD0-F5A9-4D11-9C00-4B24C71A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116B7-E74B-455E-875A-A8C533A7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E7B9B-BDAA-4103-873D-AB9C2B06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483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3B"/>
                </a:solidFill>
                <a:latin typeface="Aptos"/>
                <a:ea typeface="Aptos"/>
                <a:cs typeface="Aptos"/>
              </a:rPr>
              <a:t>PROBLEM STATEMENTS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87E07-E796-4D79-B531-554E0C7D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Three failures turn early warning into late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C289E-8CA4-4491-A6AE-E1504BCA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The problem is not only forecasting. It is the chain from signal to trusted village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E39D0-4363-424A-8BAF-6C6C6A3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30003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C36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a7922d8084d8e">
            <a:extLst>
              <a:ext uri="{96DAC541-7B7A-43D3-8B79-37D633B846F1}">
                <asvg:svgBlip xmlns:asvg="http://schemas.microsoft.com/office/drawing/2016/SVG/main" r:embed="R98b0a2c6e0744f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" y="2876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56418-6B47-45D6-A4D0-0B4E2A05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1. Signals arrive messy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04820-72EE-4AC2-B9CA-07F157AA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71900"/>
            <a:ext cx="2362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Emails, WhatsApp messages, screenshots, OCR images, and field documents are hard to compare quickly.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1C416-B51F-4BD4-BEC2-C7C97512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0003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52D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8a9013a6b444f">
            <a:extLst>
              <a:ext uri="{96DAC541-7B7A-43D3-8B79-37D633B846F1}">
                <asvg:svgBlip xmlns:asvg="http://schemas.microsoft.com/office/drawing/2016/SVG/main" r:embed="Re5d25a681c6e46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95825" y="2876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F3399-64AA-427E-8DB2-315523DE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90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2. The right audience is unclear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2C4C9-6F56-4D87-BC89-F4F3348F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771900"/>
            <a:ext cx="2362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Older people, children, clinics, schools, low-lying homes, and equipment owners need different action.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09A39-F9CA-4F36-9E67-21DCE828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30003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C36"/>
          </a:solidFill>
          <a:ln xmlns:a="http://schemas.openxmlformats.org/drawingml/2006/main" w="9525">
            <a:solidFill>
              <a:srgbClr val="D9483B"/>
            </a:solidFill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e4f8798ef48c6">
            <a:extLst>
              <a:ext uri="{96DAC541-7B7A-43D3-8B79-37D633B846F1}">
                <asvg:svgBlip xmlns:asvg="http://schemas.microsoft.com/office/drawing/2016/SVG/main" r:embed="R4c1da5407edc41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67700" y="2876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905E4-83D8-46FB-92EB-B887B61A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90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3. Delivery is not proof of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C3BF7-8E2E-4ED9-A6BD-DD8BF3B2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362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 message log does not show whether volunteers announced it or households moved.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E54EF9-3240-457C-8D54-28A90498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162550"/>
            <a:ext cx="8058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111"/>
          </a:solidFill>
          <a:ln xmlns:a="http://schemas.openxmlformats.org/drawingml/2006/main" w="9525">
            <a:solidFill>
              <a:srgbClr val="D948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395F2-DD97-492A-8EC2-ABB8481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3149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warning system fails when the slowest household receives the message last.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7AA4A-B996-412B-AD6F-E7A897CF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D62B78-7451-4656-8BC6-2DF997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62146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8B530B-EBDD-430F-A30B-387E7E2B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15D99-DE33-4585-BA9E-746BCD1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6C129-C5A2-446B-BB3E-7DD4D0C9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9FB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9FB8"/>
                </a:solidFill>
                <a:latin typeface="Aptos"/>
                <a:ea typeface="Aptos"/>
                <a:cs typeface="Aptos"/>
              </a:rPr>
              <a:t>INCLUSIVE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A3F6D-F822-4D31-A8FD-A762B1E4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rPr>
              <a:t>The platform is designed for people who cannot wait for a perfect announcement.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B6D5B-02A9-4291-91E1-BCE4DCDA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35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35A"/>
                </a:solidFill>
                <a:latin typeface="Aptos"/>
                <a:ea typeface="Aptos"/>
                <a:cs typeface="Aptos"/>
              </a:rPr>
              <a:t>Inclusive warning means digital channels, village channels, and assisted mobilization work together.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0553E-F39E-4B28-B097-C6AB18B7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1b382d8074bfd">
            <a:extLst>
              <a:ext uri="{96DAC541-7B7A-43D3-8B79-37D633B846F1}">
                <asvg:svgBlip xmlns:asvg="http://schemas.microsoft.com/office/drawing/2016/SVG/main" r:embed="R08bf1dda572244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26670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E5CBE-5D9F-45D6-8136-238F3888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Older people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04353-C87A-47C1-B5C4-EE6590E4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5750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transport first, check medicines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AE7024-8E07-49CF-A6E8-CADB18CE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81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bcd53d2004f2f">
            <a:extLst>
              <a:ext uri="{96DAC541-7B7A-43D3-8B79-37D633B846F1}">
                <asvg:svgBlip xmlns:asvg="http://schemas.microsoft.com/office/drawing/2016/SVG/main" r:embed="R98e021d06d5f42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26670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D5880-F22A-4AE8-A939-C8EFC3F0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908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Children and schools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60392-0C95-4448-8308-34F19B72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safe pickup points, class alerts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CA282-F4AD-4766-A604-2A88E512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81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204ee93694ac1">
            <a:extLst>
              <a:ext uri="{96DAC541-7B7A-43D3-8B79-37D633B846F1}">
                <asvg:svgBlip xmlns:asvg="http://schemas.microsoft.com/office/drawing/2016/SVG/main" r:embed="R28a2daec818244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943850" y="26670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DCE66-B38A-4F7B-AD19-F4F98B4F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908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People with disabilities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02F1A-45CC-40E2-9AA6-80F208A7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5750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assisted evacuation and accessible instructions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4DD6B-7BD2-41F8-A5D0-DA5A62BD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a1d4c8a60498c">
            <a:extLst>
              <a:ext uri="{96DAC541-7B7A-43D3-8B79-37D633B846F1}">
                <asvg:svgBlip xmlns:asvg="http://schemas.microsoft.com/office/drawing/2016/SVG/main" r:embed="Rc375508d8e414d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401955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2C7934-66CF-48B8-96A5-52D68BC9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9433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Clinics and caregivers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16A67-2918-47E8-B161-F2D6071C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100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triage, medicine, shelter coordination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7A974D-10C1-477E-9507-B0B34133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338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d782cdc3eb4956">
            <a:extLst>
              <a:ext uri="{96DAC541-7B7A-43D3-8B79-37D633B846F1}">
                <asvg:svgBlip xmlns:asvg="http://schemas.microsoft.com/office/drawing/2016/SVG/main" r:embed="R0acea22fe1a442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401955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4DDDD2-CC37-4695-A6FD-5541678B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433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Remote households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2BA409-9A5A-423E-9008-7F542F1B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100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loudspeaker, door-to-door, community radio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7344FE-DBC6-49E6-BCD2-CFF3A704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33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Accessibility principle: send the same trusted warning through the channel each person can actually receive.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0D90CD-59D0-4F6E-8397-5327F161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B37BA9-2FED-4A1C-B5C5-810302F4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603164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9BA0C8-D110-48A1-9FF8-13ED5448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8C9F5-E4EE-4FE4-8C1A-814D8BF1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FABBE-A041-4675-A1FD-23974E3D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3CC2E-B68C-44CA-A7DD-2911D466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4D8E0-115B-421F-9596-B5E9260C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84CE4-0E14-4CB0-88E2-88E01838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Our solution is an AI assistant wrapped in official control.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5DEB3-D4EC-43F7-A9CF-136E1D65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AI accelerates reading, drafting, translating, routing, and quality checks. Officials still approve every public alert.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E064E-F790-46B4-8529-4D1B77BE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e60f940de4750">
            <a:extLst>
              <a:ext uri="{96DAC541-7B7A-43D3-8B79-37D633B846F1}">
                <asvg:svgBlip xmlns:asvg="http://schemas.microsoft.com/office/drawing/2016/SVG/main" r:embed="Ra11ead96b51f44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686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0F3CF-2B80-42CF-8279-5106828D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241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E3E32-BE60-48E3-8DDE-0A9EAB43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90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B1E23-2B6A-453C-89EB-78ADA650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147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Reads Gmail-style reports, WhatsApp messages, images, OCR screenshots, PDFs, and uploads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0A0FF-3226-4457-A7BF-E6DF5CE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43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1D1525-DB0A-4C18-B229-91D44A15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Drafts English and Lao messages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FCBE0-E4E2-4CC4-87B0-3442A1D8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38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B3798-B2EA-43B5-A14E-0B3AA8A0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624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Recommends channels and routing groups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04077-CDBA-4B35-8BAB-8ADB6F38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F5B84B"/>
            </a:solidFill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cc67212c24ec1">
            <a:extLst>
              <a:ext uri="{96DAC541-7B7A-43D3-8B79-37D633B846F1}">
                <asvg:svgBlip xmlns:asvg="http://schemas.microsoft.com/office/drawing/2016/SVG/main" r:embed="R92f7ba8c20bc4a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77050" y="2686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CD652E-AE26-46FC-AE52-66F927FA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819071-E87D-468F-B1B8-2297DFBC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90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893277-D1AA-4648-A475-BE45AF18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147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Reviewer edits severity, location, target audience, channels, and messages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CB4E1-BE8A-4ACE-A8F2-DE133C6E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E2ADB4-7B4C-49D0-8AE9-861677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624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Approval workflow prevents uncontrolled publication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9619B4-229F-4E06-9B27-63437A3B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17FBBD-6707-47AB-8AD9-91BD440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577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Audit logs and reports preserve accountability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145193-903D-49F4-8A25-58477740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6EF7F-49C1-4064-B33B-DB8C7FE6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72248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C0D721-5CB3-4FDB-BDD0-C7AD3274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231E8-3251-4307-ACC9-DCA842DA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D0E68-3E55-47EF-BA4A-753F25B4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AE049-1B69-40E4-A106-7D16F916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72F84-72A8-4619-B5C9-5AAFF569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9FB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9FB8"/>
                </a:solidFill>
                <a:latin typeface="Aptos"/>
                <a:ea typeface="Aptos"/>
                <a:cs typeface="Aptos"/>
              </a:rPr>
              <a:t>HOW IT WORKS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530E6-BB70-4CA0-9333-4A220635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workflow turns chaos into an approved, routed, acknowledged warning.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0DB42-CEA7-425E-A8F1-AEA7BE30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Every step has a role: AI structures the signal, the officer approves, the network confirms reach.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261019-0721-422D-8BB2-2251F62A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9D999-C214-439B-ABFA-59115CED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54008-FE11-4BCA-9AC6-5BE95FE5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test.txt, Gmail, WhatsApp, OCR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47A59-7ECC-4F4B-B3D2-57463B59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051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7EF63-BA96-4EFD-A039-79E84FA5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3989E-C833-4ECB-AEC4-06B51B0A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Understand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F8200-265F-4B79-ACC6-30435035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hazard, province, impact, timing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96907-E749-4843-9AC9-66D9BB87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051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30DE-17F5-4DF8-B8D3-62FD4018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15ABF9-86AC-44CE-BB54-949645CE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Draft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C5F56E-D391-43CA-BFC8-B64F79B4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English/Lao warning and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13376-9E46-4600-BCEE-0B2C5735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051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0E37A-A911-43F5-B2D0-561BA872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F5B84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CB44FB-0DDE-4C47-BC7B-0CAC7DBD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E5C6DF-922F-4819-ACEC-66DB4FEC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official edits and approval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B33C79-A1D2-4AE6-964D-A916745C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051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6F43C4-48DE-473E-BE38-52406D2F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EF606F-D7BB-4B90-A399-8DABDB1D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Route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71CB38-CA0E-4F58-AFDC-9EF785D2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contacts, volunteers, priority groups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8ECD77-76B5-4305-B9DD-3F39A3A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1051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66B651-3542-4FA3-AFDE-C26660C9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7175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FFBB01-79CA-41D4-B50C-202D68D9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24150"/>
            <a:ext cx="12573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Acknowledge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0D0DF8-5846-4285-96BC-DCCAFD60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289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delivery logs and village action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45D85D-27D7-4719-8D4A-5C0250AA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972050"/>
            <a:ext cx="847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4"/>
          </a:solidFill>
          <a:ln xmlns:a="http://schemas.openxmlformats.org/drawingml/2006/main" w="9525">
            <a:solidFill>
              <a:srgbClr val="3CB879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53DDE5-9A38-4955-BF9D-8B3343FC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53025"/>
            <a:ext cx="7858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path: select test.txt -&gt; Analyze intake -&gt; Create AI draft -&gt; Review -&gt; Approve -&gt; Publish -&gt; Volunteer acknowledgment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5F2FD7-E752-4751-97C9-11D37854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85B40-45DA-4225-A2F7-ACCD28D6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188115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AB49F1-06F6-4CA0-8928-5EC0EA93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E8076-73A9-4B0D-9807-277AC742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84950-3859-4502-A5ED-280D0036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DEMO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4EB0-9AF4-4BA5-98BF-213CF6E8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rPr>
              <a:t>The demo uses a Lao crisis file, not a pre-filled alert form.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07568-E654-453D-9978-10292EF7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35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35A"/>
                </a:solidFill>
                <a:latin typeface="Aptos"/>
                <a:ea typeface="Aptos"/>
                <a:cs typeface="Aptos"/>
              </a:rPr>
              <a:t>Source file: C:\Users\siror\Documents\test.txt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903376-DDB1-4E6B-8FD3-1ADB3826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4667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84396e46d4596">
            <a:extLst>
              <a:ext uri="{96DAC541-7B7A-43D3-8B79-37D633B846F1}">
                <asvg:svgBlip xmlns:asvg="http://schemas.microsoft.com/office/drawing/2016/SVG/main" r:embed="R62625a21676146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" y="26098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A1695-44F6-41F4-88EF-5489F7C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6670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TEST-LAO-2026-001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A9E67-3394-40AD-ADF8-75B30FCE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4C3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4C38"/>
                </a:solidFill>
                <a:latin typeface="Aptos"/>
                <a:ea typeface="Aptos"/>
                <a:cs typeface="Aptos"/>
              </a:rPr>
              <a:t>Incoming Lao-language crisis 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076F1-B331-4CC0-8529-1A20B6D0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C8BC6-BB59-44D1-A0E1-49AD6B7B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Heavy rainfall and flood risk across several provinces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124233-B1D5-4FF9-8E5E-7FC3779B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660E2-0BA9-47B4-B622-C060277B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957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Road closures, power disruption, flooded homes, temporary shelters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0EA82-90BF-42D8-8FC0-B5FE9E6C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906A4-612D-4BF2-B816-9D976CDA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244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Emergency coordination and public instructions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085F8-FA87-4523-BEC7-FE96813F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05050"/>
            <a:ext cx="4286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831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3d7433c5e442f">
            <a:extLst>
              <a:ext uri="{96DAC541-7B7A-43D3-8B79-37D633B846F1}">
                <asvg:svgBlip xmlns:asvg="http://schemas.microsoft.com/office/drawing/2016/SVG/main" r:embed="Raec1bb034aec4b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43700" y="26289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307870-8F77-4772-BDAF-D23D517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670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OpenAI output in testing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63E27E-36FA-4551-A8A8-50A708B9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0995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Hazard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FCD5C-2B86-413A-9045-785FD3EE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909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Flood / Heavy rainfall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D4FAA6-2CF1-48FE-9B82-68562D7C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385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Severity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37AC4C-6A48-4745-ABCB-CF742419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195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Watch, reviewer can escalate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6DA25A-0BC4-4440-805D-44A4A328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672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Audience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3E7A84-D11F-4F4F-A594-4FB0A859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elders, children, clinics, schools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BE9B97-E8B0-418E-8C54-D5F3B06A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9582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Channels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15911E-883C-41A1-8E57-EC5DEA14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767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SMS, WhatsApp, In-app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421063-8FE5-40C1-BF44-E46AA990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214B95-9AE1-43E2-83AB-A90F500E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9429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23BB6F-FFB8-4D77-A9D7-558E866D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2B4DC-1F11-4FB9-9B5F-C99D40F4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97D1E-1430-4562-BF80-D19FFF9C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AEAA2-6347-492A-8041-1A71487B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B8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2DA32-4438-4D71-878B-D2C450D3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CB87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CB879"/>
                </a:solidFill>
                <a:latin typeface="Aptos"/>
                <a:ea typeface="Aptos"/>
                <a:cs typeface="Aptos"/>
              </a:rPr>
              <a:t>HOW IT SOLVES THE 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1EC69-8AE9-410F-957F-03675CA4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Each product capability removes one point of failure.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0048A-93A2-46BB-96BF-C1A24808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The solution is not a chatbot. It is an operations workflow that shortens time, improves targeting, and proves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08FFD-B30E-4B87-B887-A88ACF37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76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111"/>
          </a:solidFill>
          <a:ln xmlns:a="http://schemas.openxmlformats.org/drawingml/2006/main" w="9525">
            <a:solidFill>
              <a:srgbClr val="D9483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DBDB7-707D-47EC-BEB3-7519EB09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Messy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C00AF-31D7-4981-9868-071589A9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03E9FC-86A8-4D1D-BFCD-855F7542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175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AI intake extracts hazard, impact, action, missing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7E806-FC85-495F-B853-AC5CFA6F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326"/>
          </a:solidFill>
          <a:ln xmlns:a="http://schemas.openxmlformats.org/drawingml/2006/main" w="9525">
            <a:solidFill>
              <a:srgbClr val="3CB87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3CACF-9475-4EA9-9744-8CDE6F4F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Cleaner draft in minutes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C14C1-A45D-418A-9EB1-AEAC701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FF41C-52CC-45FF-8726-97E51228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432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E06210-C125-4BD7-BF3D-20CF8A34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276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111"/>
          </a:solidFill>
          <a:ln xmlns:a="http://schemas.openxmlformats.org/drawingml/2006/main" w="9525">
            <a:solidFill>
              <a:srgbClr val="D9483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246B36-6BDD-4207-9A59-96BFA9A4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Wrong audience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807B3-11A4-4109-8B54-DE61EAFE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0520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3302BB-8AFF-4AC1-987B-84A2AEBD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7665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Routing groups combine province, district, volunteers, contacts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834E1-25AB-46F1-9136-DF5C6F97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0520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326"/>
          </a:solidFill>
          <a:ln xmlns:a="http://schemas.openxmlformats.org/drawingml/2006/main" w="9525">
            <a:solidFill>
              <a:srgbClr val="3CB879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DE4B4F-EF31-484E-97B6-50E946C4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147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Right people mobilize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D0E8D8-4D3D-4530-84DF-8718324E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481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63FC4-E3FB-44DB-A12D-60F0A3C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481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98B75B-4E9D-405A-A223-F0A96E57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76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111"/>
          </a:solidFill>
          <a:ln xmlns:a="http://schemas.openxmlformats.org/drawingml/2006/main" w="9525">
            <a:solidFill>
              <a:srgbClr val="D9483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32A708-1B8F-4532-8985-9BDB91AF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387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 proof of reach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4E1344-5068-438B-AA33-5C56ED92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61010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654D2-B4C5-415A-8F9F-93B7931C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8155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Delivery logs plus volunteer acknowledgment and dissemination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EF64CB-847D-48C4-965D-1D0AF29D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1010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326"/>
          </a:solidFill>
          <a:ln xmlns:a="http://schemas.openxmlformats.org/drawingml/2006/main" w="9525">
            <a:solidFill>
              <a:srgbClr val="3CB879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38FDA9-C5EA-48EE-BF78-4FD38AE5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196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 show who still needs help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3919E1-1463-4EA4-AF5E-F93575D5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530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2917E8-D8D1-446B-81F9-520271DF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5300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70F94E-15E3-4DDF-9E8E-8B263AAB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EE9685-A234-4C64-80D9-AD15A9C4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381445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E0E35F-70C0-4D5F-9D52-E22A8B48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C3E6F-CAB9-41E5-A987-C9D974E0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7A636-1068-4E0F-92D6-274E52A5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9154C-AAFF-4FCE-8AED-6FFFA133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B80EEF-8515-493E-93A9-5CF097D2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FUTURE UPDATE: SUBSCRIBER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87716-7280-40F7-B4B2-3F58E96F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Subscribers will receive area-based alerts before the disaster reaches them.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56633-A849-4148-AC38-ECD97996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People subscribe to provinces, districts, villages, or family locations. When the area is threatened, alerts go to WhatsApp or SMS.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66D13E-7A68-4129-9B7D-608126BA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7d74fb79f4993">
            <a:extLst>
              <a:ext uri="{96DAC541-7B7A-43D3-8B79-37D633B846F1}">
                <asvg:svgBlip xmlns:asvg="http://schemas.microsoft.com/office/drawing/2016/SVG/main" r:embed="R0645d997f50141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4900" y="27051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8DBEB-FB72-4164-8C7A-BE6FCFD8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7622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Subscribe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AEF40-9CE6-4452-B892-FD315754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52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Residents choose their area, language, and preferred channel.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A8948-5575-4539-86E9-FB662CE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0030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F5B84B"/>
            </a:solidFill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d5eb7178545cb">
            <a:extLst>
              <a:ext uri="{96DAC541-7B7A-43D3-8B79-37D633B846F1}">
                <asvg:svgBlip xmlns:asvg="http://schemas.microsoft.com/office/drawing/2016/SVG/main" r:embed="R268db0103a4a45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72050" y="27051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8DCA4-2FEA-4556-9299-6B9DE993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622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BF52A-532F-4A91-9324-8A887471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52800"/>
            <a:ext cx="2114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When risk crosses a threshold, the approved alert targets subscribers in the affected area.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1DC213-E0F4-472E-A3A2-F73A8561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0030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3CB879"/>
            </a:solidFill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971b422a144e1f">
            <a:extLst>
              <a:ext uri="{96DAC541-7B7A-43D3-8B79-37D633B846F1}">
                <asvg:svgBlip xmlns:asvg="http://schemas.microsoft.com/office/drawing/2016/SVG/main" r:embed="R98517a7d6b8445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839200" y="27051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B4CEB-03B9-4DA7-B454-F05EBA0B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622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Notify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0B146-7653-406D-8EA6-52F45054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528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Subscribers receive SMS or WhatsApp alerts with clear actions and official source.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EA98D5-449A-4773-B8D6-925F64BB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80FC7-D5F3-4400-A7AB-FB78F644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814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7D18EE-BB1E-48AD-A0D8-4CFC556B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080B62-A286-42EE-9ED3-782C2C7A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38432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377736-21DE-4FC4-9CE0-F9CFA212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132DB-ABC0-4036-B952-0F7B407A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A7B55E-FFEE-4AD5-A205-A1FF751F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9FB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9FB8"/>
                </a:solidFill>
                <a:latin typeface="Aptos"/>
                <a:ea typeface="Aptos"/>
                <a:cs typeface="Aptos"/>
              </a:rPr>
              <a:t>FUTURE UPDATE: PREDICTIVE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9B8F3-4F6F-4FB4-A7FA-40DCBDBD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rPr>
              <a:t>The next AI layer predicts not just what is happening, but when water may arrive.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ED24D-EC13-47C7-B81F-D570CBED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35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35A"/>
                </a:solidFill>
                <a:latin typeface="Aptos"/>
                <a:ea typeface="Aptos"/>
                <a:cs typeface="Aptos"/>
              </a:rPr>
              <a:t>Forecasting needs official hydromet feeds, rainfall data, river gauges, satellite products, and model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3B2E0-A1EE-4F3C-A434-5E71A225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D5F90-7824-4BBF-968D-070D250C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67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3D059-BA26-4EA8-B6DD-8BDECBD4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ED7F5-84B3-49C9-AAA0-5E1B07A8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004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Rainfall forecast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10412-E753-4679-ADD2-9FC2F0F8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52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987FC-6096-46B5-BA81-6ECEDBC9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766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River gauge readings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68736-4180-4B00-B211-6C1ED24C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29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FE768-170C-445F-B285-DBBADF0C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529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Satellite flood signals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7AE4B-FD64-48EA-9EBC-563ECF4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6220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831"/>
          </a:solidFill>
          <a:ln xmlns:a="http://schemas.openxmlformats.org/drawingml/2006/main" w="9525">
            <a:solidFill>
              <a:srgbClr val="F5B84B"/>
            </a:solidFill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f9619cee341a1">
            <a:extLst>
              <a:ext uri="{96DAC541-7B7A-43D3-8B79-37D633B846F1}">
                <asvg:svgBlip xmlns:asvg="http://schemas.microsoft.com/office/drawing/2016/SVG/main" r:embed="R3ff33868175440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95950" y="27241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579E7-2690-4AA4-AD6F-793F80A4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718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178E7-5DD0-4B54-9CBC-BA47D803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90950"/>
            <a:ext cx="219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estimates water level, flood timing, affected area, and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42207-7452-4823-AA19-B03907EB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4C0D57-4A30-4729-932E-0EBF5FAD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Outputs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0AB090-94C0-40E8-8B09-11CD2821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BB8D8-F927-4037-AA36-90A0C373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Predicted flood time window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46EB5-C0C6-4FDC-B10E-C8023FB4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52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7666C-40F4-48AF-ACFE-7081E678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766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Expected water level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BF8D84-DAB0-4B0A-9EE2-EF8BD68E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29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5327B-F811-48A2-95B5-83D86D01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71114"/>
                </a:solidFill>
                <a:latin typeface="Aptos"/>
                <a:ea typeface="Aptos"/>
                <a:cs typeface="Aptos"/>
              </a:rPr>
              <a:t>Early subscriber warning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69CBF1-5A13-4D71-8385-C8AC7278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31C05F-87AD-4C52-BFC9-A3C17827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14095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705F2C-E718-49E7-94E8-816A2D9E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8BD13-DA0C-4346-9709-4490678C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EF138-7D46-4E94-A433-49E88E0B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A1396-B525-4295-BF64-B479A68C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8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89A42-1708-4796-BF65-877A31E0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8B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98BFF"/>
                </a:solidFill>
                <a:latin typeface="Aptos"/>
                <a:ea typeface="Aptos"/>
                <a:cs typeface="Aptos"/>
              </a:rPr>
              <a:t>FUTURE UPDATE: AI CONTACT RECOMMENDATION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CA805-849A-4D6B-9926-69F5433B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can recommend who to call, who to send, and what equipment to borrow.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F0C2B-05E1-4434-BBF5-701F3F88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The contact database becomes an operational graph of people, resources, and responsibilities.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DA703-4C70-4F57-A081-E19216FC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e86785ae14894">
            <a:extLst>
              <a:ext uri="{96DAC541-7B7A-43D3-8B79-37D633B846F1}">
                <asvg:svgBlip xmlns:asvg="http://schemas.microsoft.com/office/drawing/2016/SVG/main" r:embed="Rf20111af7f5f4a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26860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CD151-E5FD-4516-B344-87906CC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432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Contact persons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E6380-B1B6-4ED2-9416-0C7BB328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district officers, village heads, rescue teams, clinics, school focal points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EEB1A-5766-418D-A5D8-4F7E543E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81250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F5B84B"/>
            </a:solidFill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4c0a341ec4d36">
            <a:extLst>
              <a:ext uri="{96DAC541-7B7A-43D3-8B79-37D633B846F1}">
                <asvg:svgBlip xmlns:asvg="http://schemas.microsoft.com/office/drawing/2016/SVG/main" r:embed="Rc0a7749432ea46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14900" y="26860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7B352-8F32-4F6A-80CD-ABC9F083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432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Equipment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9982F-8D34-4223-9C5D-959E9E97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33375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boats, pumps, trucks, generators, loudspeakers, shelter supplies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316EC-A675-4413-908D-849C0BDD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81250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3CB879"/>
            </a:solidFill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8606fd344088">
            <a:extLst>
              <a:ext uri="{96DAC541-7B7A-43D3-8B79-37D633B846F1}">
                <asvg:svgBlip xmlns:asvg="http://schemas.microsoft.com/office/drawing/2016/SVG/main" r:embed="R5001dedabfae44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86800" y="26860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2310D-A772-4B77-A303-3FB1879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432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Routing logic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246E71-D3F2-41FC-8B20-90765B00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337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nearest available resource, language, role, area, delivery history, and vulnerability priority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F0E40-386C-4B4C-BD43-6370DC74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3340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Reviewer remains in control: AI recommends, officials decide.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3887C1-096E-4DC6-8447-7D9541DF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692D46-ED34-4CE1-A48E-210360E1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885298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3092C6-306F-48E7-BE01-949693B7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CEFDF-019C-4E23-920C-7DCCB1A8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2A437-5774-4C98-9AF6-30143F75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483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3B"/>
                </a:solidFill>
                <a:latin typeface="Aptos"/>
                <a:ea typeface="Aptos"/>
                <a:cs typeface="Aptos"/>
              </a:rPr>
              <a:t>LIMITATIONS AND SAFEGUARDS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90EF0-02C2-4B97-B063-809E8F8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71114"/>
                </a:solidFill>
                <a:latin typeface="Aptos Display"/>
                <a:ea typeface="Aptos Display"/>
                <a:cs typeface="Aptos Display"/>
              </a:rPr>
              <a:t>The MVP is powerful, but it should not pretend to be a live national warning system yet.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20A57-83C8-4520-95B7-18767839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35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35A"/>
                </a:solidFill>
                <a:latin typeface="Aptos"/>
                <a:ea typeface="Aptos"/>
                <a:cs typeface="Aptos"/>
              </a:rPr>
              <a:t>Limitations are visible by design so pilot users know what is real, simulated, and still pending.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0057F-F9D8-433A-A39E-F809E834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7AFA3-3C8A-4084-8FD7-028E3F30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907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Provider credentials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6F5EA-565A-4830-98D0-9741FF4C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098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Real Gmail and WhatsApp require OAuth, Meta tokens, templates, and callbacks.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814E7-B141-40E3-822A-BC7B372E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885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67B14-812A-4AC9-B9B0-AD9FAEFE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9D43A-BA87-4EDE-97E4-C27AC222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Prediction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34265-D2DB-4193-ACCF-D7A8899B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3845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Water-level and flood-time models need official data and expert validation.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6FD540-268D-4F3E-B8F2-0B8F420E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85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7CAD24-8174-4FC7-B9F5-4581E654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72D31-C98E-4D57-B17D-14AC8859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480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Language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9AAA78-088C-4008-976B-4AC3DB1B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671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Lao warning text must be reviewed by local disaster communication specialists.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909BF-EA3E-4A26-A35F-B7D7C82A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86200"/>
            <a:ext cx="885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65DEEE-0730-4720-9A6C-31DFC68C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91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CD9798-06A1-4D3B-884A-518C6D20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767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Offline coverage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263D0-03EC-4A57-82CA-45CC9AA4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9575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Remote communities still need radio, loudspeaker, and door-to-door support.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D518B-FF7E-48B6-855B-62769717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14850"/>
            <a:ext cx="885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F89A39-BE06-4E81-8836-9BA99102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196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E04E74-04C7-4772-9793-DF3881DB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1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14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A17934-9665-4931-B5E5-0CAD425F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2440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46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46B"/>
                </a:solidFill>
                <a:latin typeface="Aptos"/>
                <a:ea typeface="Aptos"/>
                <a:cs typeface="Aptos"/>
              </a:rPr>
              <a:t>SSO, MFA, encryption, audit screens, and policies are required before production.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DB4E3-A4F9-4137-9B9B-84159AE2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885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481E5C-8E0E-4CD9-9EC7-3F39D183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F10865-9709-474C-BA4A-5C807ED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8711145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E083F5-E4AD-4F08-9479-72AD5B12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986D6-193E-4FDC-8F08-2CE097A1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33219-8D87-40C4-924D-A5BD1A51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D0F58-7322-4A48-A4B9-64DF52B5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8F030-ED8F-439A-9BA6-3636D37B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FUTURE 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B3F4D-C901-4E46-BF14-617B3720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roadmap turns a demo into a resilience platform for everyone.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3C363-8582-4FFB-BA3C-FAE147F2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Start with the controlled alert workflow. Then connect subscribers, predictions, contact intelligence, and verified live delivery.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E9F7B-2543-4A03-B921-ED7DBA64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313"/>
          </a:solidFill>
          <a:ln xmlns:a="http://schemas.openxmlformats.org/drawingml/2006/main" w="9525">
            <a:solidFill>
              <a:srgbClr val="F5B84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0970B-342E-4875-B3DE-1737B903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B8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B84B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AE2C5-79C5-402A-A091-CF0E7C02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AI intake, approval, bilingual alert, delivery logs, volunteer acknowledgment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6F42C-2812-4447-AF79-132F802F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003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C412D-929D-4A12-B38B-3C863918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86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2A668A-B70D-4042-8579-F7DF7AA0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04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subscriber app, WhatsApp/SMS real sends, templates, provider callbacks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25A6E-60B4-4CEA-9636-89344CA1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003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6D5C8-8C46-4FF3-8E42-77ADE139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86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13782-1623-4601-9413-65C06238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water level, flood timing, affected zones, confidence and lead 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7FEEE-8884-40AF-A751-28E67662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003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B069B0-61D3-4AF4-AF13-5FE0BA2B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86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D348D-E042-453E-838C-6D972087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004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contact persons, rescue teams, clinics, borrowed equipment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C0872D-9974-4071-B828-0169051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003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5"/>
          </a:solidFill>
          <a:ln xmlns:a="http://schemas.openxmlformats.org/drawingml/2006/main" w="9525">
            <a:solidFill>
              <a:srgbClr val="1F9F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E9747F-8369-4984-BAB2-C5412B34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86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10415C-2407-4E04-B665-B0F17994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004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E6F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E6F2"/>
                </a:solidFill>
                <a:latin typeface="Aptos"/>
                <a:ea typeface="Aptos"/>
                <a:cs typeface="Aptos"/>
              </a:rPr>
              <a:t>SSO/MFA, encrypted contacts, audit reviews, Lao validation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98F21B-248F-40B4-9E50-CBFC23DF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4"/>
          </a:solidFill>
          <a:ln xmlns:a="http://schemas.openxmlformats.org/drawingml/2006/main" w="9525">
            <a:solidFill>
              <a:srgbClr val="3CB879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6BEC63-FD57-4CD3-954A-3EED180A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381625"/>
            <a:ext cx="7372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Closing message: faster warnings, clearer responsibility, and a last-mile network that includes the people most at risk.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97E5BB-473B-44EF-88B7-08073115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4BC"/>
                </a:solidFill>
                <a:latin typeface="Aptos"/>
                <a:ea typeface="Aptos"/>
                <a:cs typeface="Aptos"/>
              </a:rPr>
              <a:t>Laos AI Disaster Alert MVP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44409D-60A3-4F61-9C88-73330606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913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CB4B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B4B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220609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2026-06-12T04:44:53.6240000Z</dcterms:created>
  <dcterms:modified xsi:type="dcterms:W3CDTF">2026-06-12T04:44:53.6240000Z</dcterms:modified>
</coreProperties>
</file>