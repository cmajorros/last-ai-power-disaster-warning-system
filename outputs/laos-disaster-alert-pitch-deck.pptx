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1ca171199f4d9f" /><Relationship Type="http://schemas.openxmlformats.org/officeDocument/2006/relationships/extended-properties" Target="/docProps/app.xml" Id="Rdd00a48143c74c5e" /><Relationship Type="http://schemas.openxmlformats.org/officeDocument/2006/relationships/officeDocument" Target="/ppt/presentation.xml" Id="R9266fb063fa148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56d5be2da245cc"/>
  </p:sldMasterIdLst>
  <p:notesMasterIdLst>
    <p:notesMasterId xmlns:r="http://schemas.openxmlformats.org/officeDocument/2006/relationships" r:id="Rc57168ab3d184d9c"/>
  </p:notesMasterIdLst>
  <p:sldIdLst>
    <p:sldId xmlns:r="http://schemas.openxmlformats.org/officeDocument/2006/relationships" id="256" r:id="Re75828d246e14c34"/>
    <p:sldId xmlns:r="http://schemas.openxmlformats.org/officeDocument/2006/relationships" id="257" r:id="R28f0857ae9264a31"/>
    <p:sldId xmlns:r="http://schemas.openxmlformats.org/officeDocument/2006/relationships" id="258" r:id="R62ec37b0210947f0"/>
    <p:sldId xmlns:r="http://schemas.openxmlformats.org/officeDocument/2006/relationships" id="259" r:id="R7ea6c752a98145b8"/>
    <p:sldId xmlns:r="http://schemas.openxmlformats.org/officeDocument/2006/relationships" id="260" r:id="Rca712cf545d1467c"/>
    <p:sldId xmlns:r="http://schemas.openxmlformats.org/officeDocument/2006/relationships" id="261" r:id="R3d2eec5a39034c8b"/>
    <p:sldId xmlns:r="http://schemas.openxmlformats.org/officeDocument/2006/relationships" id="262" r:id="R5b757ecca8214dff"/>
    <p:sldId xmlns:r="http://schemas.openxmlformats.org/officeDocument/2006/relationships" id="263" r:id="Rd871b4eea0814eb8"/>
    <p:sldId xmlns:r="http://schemas.openxmlformats.org/officeDocument/2006/relationships" id="264" r:id="R0464a4336ba84cda"/>
    <p:sldId xmlns:r="http://schemas.openxmlformats.org/officeDocument/2006/relationships" id="265" r:id="R50964857622346cd"/>
    <p:sldId xmlns:r="http://schemas.openxmlformats.org/officeDocument/2006/relationships" id="266" r:id="R5b47814665ae46c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1c58cd79c44dda" /><Relationship Type="http://schemas.openxmlformats.org/officeDocument/2006/relationships/slideMaster" Target="/ppt/slideMasters/slideMaster1.xml" Id="R0156d5be2da245cc" /><Relationship Type="http://schemas.openxmlformats.org/officeDocument/2006/relationships/notesMaster" Target="/ppt/notesMasters/notesMaster1.xml" Id="Rc57168ab3d184d9c" /><Relationship Type="http://schemas.openxmlformats.org/officeDocument/2006/relationships/presProps" Target="/ppt/presProps.xml" Id="R9882916b8565447f" /><Relationship Type="http://schemas.openxmlformats.org/officeDocument/2006/relationships/tableStyles" Target="/ppt/tableStyles.xml" Id="R7b37831426954c69" /><Relationship Type="http://schemas.openxmlformats.org/officeDocument/2006/relationships/slide" Target="/ppt/slides/slide1.xml" Id="Re75828d246e14c34" /><Relationship Type="http://schemas.openxmlformats.org/officeDocument/2006/relationships/slide" Target="/ppt/slides/slide2.xml" Id="R28f0857ae9264a31" /><Relationship Type="http://schemas.openxmlformats.org/officeDocument/2006/relationships/slide" Target="/ppt/slides/slide3.xml" Id="R62ec37b0210947f0" /><Relationship Type="http://schemas.openxmlformats.org/officeDocument/2006/relationships/slide" Target="/ppt/slides/slide4.xml" Id="R7ea6c752a98145b8" /><Relationship Type="http://schemas.openxmlformats.org/officeDocument/2006/relationships/slide" Target="/ppt/slides/slide5.xml" Id="Rca712cf545d1467c" /><Relationship Type="http://schemas.openxmlformats.org/officeDocument/2006/relationships/slide" Target="/ppt/slides/slide6.xml" Id="R3d2eec5a39034c8b" /><Relationship Type="http://schemas.openxmlformats.org/officeDocument/2006/relationships/slide" Target="/ppt/slides/slide7.xml" Id="R5b757ecca8214dff" /><Relationship Type="http://schemas.openxmlformats.org/officeDocument/2006/relationships/slide" Target="/ppt/slides/slide8.xml" Id="Rd871b4eea0814eb8" /><Relationship Type="http://schemas.openxmlformats.org/officeDocument/2006/relationships/slide" Target="/ppt/slides/slide9.xml" Id="R0464a4336ba84cda" /><Relationship Type="http://schemas.openxmlformats.org/officeDocument/2006/relationships/slide" Target="/ppt/slides/slide10.xml" Id="R50964857622346cd" /><Relationship Type="http://schemas.openxmlformats.org/officeDocument/2006/relationships/slide" Target="/ppt/slides/slide11.xml" Id="R5b47814665ae46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c0358b6b114b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327df6f4724fb4" /><Relationship Type="http://schemas.openxmlformats.org/officeDocument/2006/relationships/notesMaster" Target="/ppt/notesMasters/notesMaster1.xml" Id="Rdfca9bd073e543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12e1810f2e46a9" /><Relationship Type="http://schemas.openxmlformats.org/officeDocument/2006/relationships/notesMaster" Target="/ppt/notesMasters/notesMaster1.xml" Id="R8cbe001c25a245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165200754941a5" /><Relationship Type="http://schemas.openxmlformats.org/officeDocument/2006/relationships/notesMaster" Target="/ppt/notesMasters/notesMaster1.xml" Id="R05f06915a0c049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1f5759d3f84d63" /><Relationship Type="http://schemas.openxmlformats.org/officeDocument/2006/relationships/notesMaster" Target="/ppt/notesMasters/notesMaster1.xml" Id="Rf618a7c6161447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015c5e47c04151" /><Relationship Type="http://schemas.openxmlformats.org/officeDocument/2006/relationships/notesMaster" Target="/ppt/notesMasters/notesMaster1.xml" Id="R0f15954d768042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b253e66d654d9c" /><Relationship Type="http://schemas.openxmlformats.org/officeDocument/2006/relationships/notesMaster" Target="/ppt/notesMasters/notesMaster1.xml" Id="R00a4ef67a608472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265e6c0cb504015" /><Relationship Type="http://schemas.openxmlformats.org/officeDocument/2006/relationships/notesMaster" Target="/ppt/notesMasters/notesMaster1.xml" Id="R2ba477d3281642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71b7a9df224828" /><Relationship Type="http://schemas.openxmlformats.org/officeDocument/2006/relationships/notesMaster" Target="/ppt/notesMasters/notesMaster1.xml" Id="Re202d57d87944ae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c6fc727ac434424" /><Relationship Type="http://schemas.openxmlformats.org/officeDocument/2006/relationships/notesMaster" Target="/ppt/notesMasters/notesMaster1.xml" Id="R661b8669262e493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67d3861f0c84895" /><Relationship Type="http://schemas.openxmlformats.org/officeDocument/2006/relationships/notesMaster" Target="/ppt/notesMasters/notesMaster1.xml" Id="R2a2b107d3d8e4df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63c7d11f3eb45a9" /><Relationship Type="http://schemas.openxmlformats.org/officeDocument/2006/relationships/notesMaster" Target="/ppt/notesMasters/notesMaster1.xml" Id="R111e761c13e74c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c5e87d1f3948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f34937333e4894" /><Relationship Type="http://schemas.openxmlformats.org/officeDocument/2006/relationships/slideLayout" Target="/ppt/slideLayouts/slideLayout1.xml" Id="Rd1c284c399fc44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c284c399fc44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39c4cd2abb405b" /><Relationship Type="http://schemas.openxmlformats.org/officeDocument/2006/relationships/notesSlide" Target="/ppt/notesSlides/notesSlide1.xml" Id="R811d9609cbaa42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f54eef4fe5429f" /><Relationship Type="http://schemas.openxmlformats.org/officeDocument/2006/relationships/notesSlide" Target="/ppt/notesSlides/notesSlide2.xml" Id="R5d5303603e5843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d6e8301dd84524" /><Relationship Type="http://schemas.openxmlformats.org/officeDocument/2006/relationships/notesSlide" Target="/ppt/notesSlides/notesSlide3.xml" Id="R666545ad353041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eb0fdf5cc44185" /><Relationship Type="http://schemas.openxmlformats.org/officeDocument/2006/relationships/notesSlide" Target="/ppt/notesSlides/notesSlide4.xml" Id="Reed5c2d7aa8b41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2f5be20e2a493a" /><Relationship Type="http://schemas.openxmlformats.org/officeDocument/2006/relationships/notesSlide" Target="/ppt/notesSlides/notesSlide5.xml" Id="R01c935bf01c34dc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7e9896fc054c0a" /><Relationship Type="http://schemas.openxmlformats.org/officeDocument/2006/relationships/notesSlide" Target="/ppt/notesSlides/notesSlide6.xml" Id="Rb1e0f6510e2c41b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8a9a98128f4938" /><Relationship Type="http://schemas.openxmlformats.org/officeDocument/2006/relationships/notesSlide" Target="/ppt/notesSlides/notesSlide7.xml" Id="Rbcc2f61043624f6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0ddfc1cacd4cc5" /><Relationship Type="http://schemas.openxmlformats.org/officeDocument/2006/relationships/notesSlide" Target="/ppt/notesSlides/notesSlide8.xml" Id="Rf5bc24af8ca84dd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90e5bd51bc4e42" /><Relationship Type="http://schemas.openxmlformats.org/officeDocument/2006/relationships/notesSlide" Target="/ppt/notesSlides/notesSlide9.xml" Id="Rbea011ce06e34ef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33f26e9cfa4e02" /><Relationship Type="http://schemas.openxmlformats.org/officeDocument/2006/relationships/notesSlide" Target="/ppt/notesSlides/notesSlide10.xml" Id="R5e5d14d3fad54a1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f7430b85ce49ca" /><Relationship Type="http://schemas.openxmlformats.org/officeDocument/2006/relationships/notesSlide" Target="/ppt/notesSlides/notesSlide11.xml" Id="Ree547517793a48c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C9B776-47A4-4BB5-9903-2B6F1E6D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908E15-584F-467D-97D1-5998191E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3B1E69-1197-4E2F-BC61-AE18EA1A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9A7F8F-8410-489A-8B67-6392CC9F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1C45B1-A710-4433-B609-D048025D6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PITCH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D708CA-AA77-457B-ACEB-6738FF6B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524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The warning gap is distance to the household.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BBA1E8-8764-4923-9FD5-D4F000B9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E2E8F0"/>
                </a:solidFill>
                <a:latin typeface="Aptos"/>
                <a:ea typeface="Aptos"/>
                <a:cs typeface="Aptos"/>
              </a:rPr>
              <a:t>Last AI Power Disaster Warning System helps Laos move from scattered signals to reviewed alerts, targeted response, and proof of last-mile reach.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8C66F7-01DD-4F1D-BC64-29E0B1A9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Last AI Power Disaster Warning System for Laos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FD7165-AF64-4734-80DB-4768AD5A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876300"/>
            <a:ext cx="3638550" cy="3790950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rgbClr val="082F3D"/>
          </a:solidFill>
          <a:ln xmlns:a="http://schemas.openxmlformats.org/drawingml/2006/main" w="9525">
            <a:solidFill>
              <a:srgbClr val="164E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B29394-53E4-4D38-A7D0-6693B0D0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162050"/>
            <a:ext cx="2305050" cy="3219450"/>
          </a:xfrm>
          <a:custGeom xmlns:a="http://schemas.openxmlformats.org/drawingml/2006/main">
            <a:pathLst>
              <a:path w="2305050" h="3219450">
                <a:moveTo>
                  <a:pt x="1809750" y="76200"/>
                </a:moveTo>
                <a:lnTo>
                  <a:pt x="2381250" y="552450"/>
                </a:lnTo>
                <a:lnTo>
                  <a:pt x="2095500" y="1219200"/>
                </a:lnTo>
                <a:lnTo>
                  <a:pt x="2667000" y="2000250"/>
                </a:lnTo>
                <a:lnTo>
                  <a:pt x="2209800" y="2857500"/>
                </a:lnTo>
                <a:lnTo>
                  <a:pt x="1666875" y="3257550"/>
                </a:lnTo>
                <a:lnTo>
                  <a:pt x="1009650" y="2800350"/>
                </a:lnTo>
                <a:lnTo>
                  <a:pt x="1276350" y="2038350"/>
                </a:lnTo>
                <a:lnTo>
                  <a:pt x="838200" y="1466850"/>
                </a:lnTo>
                <a:lnTo>
                  <a:pt x="1123950" y="742950"/>
                </a:lnTo>
                <a:close/>
              </a:path>
            </a:pathLst>
          </a:custGeom>
          <a:solidFill xmlns:a="http://schemas.openxmlformats.org/drawingml/2006/main">
            <a:srgbClr val="14532D"/>
          </a:solidFill>
          <a:ln xmlns:a="http://schemas.openxmlformats.org/drawingml/2006/main" w="19050">
            <a:solidFill>
              <a:srgbClr val="38BDF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2222E8-7379-4E4E-A078-6E559A4D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19550"/>
            <a:ext cx="1924050" cy="-2095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7E8F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E6687A-4FAA-4EFF-919B-3FEC4FAC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38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1DD51B-93F6-4DA3-B573-AA160884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6192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Luang Prabang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0AC31B-482D-4078-9774-9BB9D25B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47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D4CA3D-CAD0-4F0D-90BB-3599F02A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289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Thakhek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C302DA-2847-4D30-8C1C-5928C176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657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FEB453-3981-4B8C-B6FD-EABB3038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6385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Pakse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3DE7A9-DAE2-4B25-97B9-1DDCFFD3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19550"/>
            <a:ext cx="3219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E2E8F0"/>
                </a:solidFill>
                <a:latin typeface="Aptos"/>
                <a:ea typeface="Aptos"/>
                <a:cs typeface="Aptos"/>
              </a:rPr>
              <a:t>Hosted MVP map: self-contained Laos crisis layer</a:t>
            </a:r>
          </a:p>
          <a:p xmlns:a="http://schemas.openxmlformats.org/drawingml/2006/main">
            <a:pPr>
              <a:defRPr sz="90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E2E8F0"/>
                </a:solidFill>
                <a:latin typeface="Aptos"/>
                <a:ea typeface="Aptos"/>
                <a:cs typeface="Aptos"/>
              </a:rPr>
              <a:t>Production option: GIS + hydromet + NASA satellite overlays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E69F14-6276-4FCC-B54D-CFBA6B85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193548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6AFA01-4A14-459E-B601-84C5DE12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16687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Forecast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13CFFE-EC79-4AD2-90A5-5D87C9EE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67350"/>
            <a:ext cx="16687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E2E8F0"/>
                </a:solidFill>
                <a:latin typeface="Aptos"/>
                <a:ea typeface="Aptos"/>
                <a:cs typeface="Aptos"/>
              </a:rPr>
              <a:t>Risk seen early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F890DD-9CF2-4D6C-AAA9-A6DCD1CC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280" y="5391150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7E2582-01C8-4893-B034-506DC2A6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780" y="5067300"/>
            <a:ext cx="193548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A9F6B4-C844-44BE-B776-600211D6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5130" y="5219700"/>
            <a:ext cx="16687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Declare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1D45D0-60F9-41DA-867E-B0379EB2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5130" y="5467350"/>
            <a:ext cx="16687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E2E8F0"/>
                </a:solidFill>
                <a:latin typeface="Aptos"/>
                <a:ea typeface="Aptos"/>
                <a:cs typeface="Aptos"/>
              </a:rPr>
              <a:t>Crisis on the map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6A3520-2C25-42F6-9530-C80611CD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5391150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896BCB-E20D-42C6-AFCA-EAE71186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9660" y="5067300"/>
            <a:ext cx="193548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891F7A-8E0D-4401-8F50-B1FCE00B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3010" y="5219700"/>
            <a:ext cx="16687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Approve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D2F396-73E5-4214-A986-587306E0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3010" y="5467350"/>
            <a:ext cx="16687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E2E8F0"/>
                </a:solidFill>
                <a:latin typeface="Aptos"/>
                <a:ea typeface="Aptos"/>
                <a:cs typeface="Aptos"/>
              </a:rPr>
              <a:t>Human-reviewed alert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AF7DD1-0A28-426B-A10F-A5CD7740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7040" y="5391150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2A2D2D-5C50-4974-B892-258CEDCA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7540" y="5067300"/>
            <a:ext cx="193548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69F9F4-B542-474C-83F1-9C86DC9C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0890" y="5219700"/>
            <a:ext cx="16687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Deliver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4C0EB5-5364-4177-9824-B2BB9442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0890" y="5467350"/>
            <a:ext cx="16687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E2E8F0"/>
                </a:solidFill>
                <a:latin typeface="Aptos"/>
                <a:ea typeface="Aptos"/>
                <a:cs typeface="Aptos"/>
              </a:rPr>
              <a:t>WhatsApp/SMS/logs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500B49-93C7-477C-AE22-F5FFF4FB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4920" y="5391150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3D40BC2-8516-4107-9676-5A7A2E9B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5420" y="5067300"/>
            <a:ext cx="193548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A583C11-EBB6-4F93-8803-89E5F378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8770" y="5219700"/>
            <a:ext cx="16687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Confirm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A2FF00-DC4B-4A43-ABAB-16544FEE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8770" y="5467350"/>
            <a:ext cx="16687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E2E8F0"/>
                </a:solidFill>
                <a:latin typeface="Aptos"/>
                <a:ea typeface="Aptos"/>
                <a:cs typeface="Aptos"/>
              </a:rPr>
              <a:t>Volunteer ack</a:t>
            </a:r>
          </a:p>
        </p:txBody>
      </p:sp>
    </p:spTree>
    <p:extLst>
      <p:ext uri="{BB962C8B-B14F-4D97-AF65-F5344CB8AC3E}">
        <p14:creationId xmlns:p14="http://schemas.microsoft.com/office/powerpoint/2010/main" val="14937955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1CA1C4-BC93-41BC-AD5D-CF936827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AF21E9-B760-4D8B-9FEC-B3EEEF7D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C66F81-6954-444D-BE19-F7898154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2678E6-E9F2-4526-84A6-79281822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2CE259-C55D-4A71-AFA7-FC1A573E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PROBLEM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10C606-41C8-422A-96CE-B51E4684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524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Disasters do not wait for clean data, office hours, or perfect coordination.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95A952-8F7C-4413-8DF0-F19A8168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E2E8F0"/>
                </a:solidFill>
                <a:latin typeface="Aptos"/>
                <a:ea typeface="Aptos"/>
                <a:cs typeface="Aptos"/>
              </a:rPr>
              <a:t>Floods and storms turn small communication gaps into evacuation delays, duplicate calls, and missed vulnerable households.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9E6E3B-4F8C-4D1C-9078-7976D883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Last AI Power Disaster Warning System for Laos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DBEBAC-C17E-428A-A8BA-A86F7F8F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3238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A2070F-57E2-4621-95D4-5CF0B9D7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0DDAB8-E5B7-4486-A329-88E8606A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05050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Inputs are fragmented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BE8A33-EE29-482F-BE68-ADDC674EB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28900"/>
            <a:ext cx="28956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Email, WhatsApp, photos, screenshots, paper lists, and field reports need to become one trusted operational record.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986144-7A27-429C-B306-A6D37115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33600"/>
            <a:ext cx="3238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D7612D-EE67-46AD-98BE-0C8F3EB6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3360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A39348-09C8-460B-9B97-DC353FAF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05050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Audience is uncertain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97F5ED-9414-40BE-8D29-A2F0EDE7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28900"/>
            <a:ext cx="28956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The people who should move first are not always visible: elders, children, patients, schools, factories, and households outside formal channels.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A0077C-DD4D-4902-94F4-4C6389EB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33600"/>
            <a:ext cx="3238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D2DC3C-0572-485A-AA2C-C7C3482B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3360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E471A9-2F68-4416-BBF5-211216C5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05050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Delivery is not proof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5F9394-12CE-4C09-A79B-44B32174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28900"/>
            <a:ext cx="28956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Without logs and acknowledgments, teams cannot easily see who received the message or where follow-up is still required.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88B515-C538-4A71-B4BF-372027E2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38700"/>
            <a:ext cx="986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The cost is measured in hours lost, roads closed, equipment not borrowed, and families hearing too late.</a:t>
            </a:r>
          </a:p>
        </p:txBody>
      </p:sp>
    </p:spTree>
    <p:extLst>
      <p:ext uri="{BB962C8B-B14F-4D97-AF65-F5344CB8AC3E}">
        <p14:creationId xmlns:p14="http://schemas.microsoft.com/office/powerpoint/2010/main" val="921187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6985C6-919C-4460-8481-01A074650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84D075-B668-4764-8225-A11E7DB7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B4065D-1D13-4DC1-BAC6-0EAE3942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B17917-A6D0-4F53-8E49-AE4EBB44D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690EC2-2237-4654-A8EC-3F7F1A72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SOLUTION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130938-429E-4AB9-8FB1-2BAE7EDA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524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 human-approved AI alert workflow for Laos.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CB11AE-FE92-4CEB-A685-C733BD2A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E2E8F0"/>
                </a:solidFill>
                <a:latin typeface="Aptos"/>
                <a:ea typeface="Aptos"/>
                <a:cs typeface="Aptos"/>
              </a:rPr>
              <a:t>The MVP gives meteorology officers, reviewers, responders, volunteers, and coordinators one shared operating picture.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090979-322F-41FC-AD1D-BD86A7C9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Last AI Power Disaster Warning System for Laos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703AC0-E633-4C8F-998B-1F6387DA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2019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F3451D-CC61-4D35-A51F-76017DD4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Localized dashboard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813A2E-27E6-48BB-BB5B-CFEA36E5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E2E8F0"/>
                </a:solidFill>
                <a:latin typeface="Aptos"/>
                <a:ea typeface="Aptos"/>
                <a:cs typeface="Aptos"/>
              </a:rPr>
              <a:t>Laos alerts, map, forecasts, Lao/English toggle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8889AE-C3D1-46ED-B880-83C23BFE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76500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BBD921-2234-4E9A-91DC-2F41DE97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52650"/>
            <a:ext cx="2019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AF9FEB-1EDE-4243-8C4F-D52A4595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05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AI synthesis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C0D1E4-78B0-4597-9F0B-868EFF91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5270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E2E8F0"/>
                </a:solidFill>
                <a:latin typeface="Aptos"/>
                <a:ea typeface="Aptos"/>
                <a:cs typeface="Aptos"/>
              </a:rPr>
              <a:t>Reads email, WhatsApp, documents, images, OCR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9B3F07-DE53-4AE3-AB23-1ABFE63B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476500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805EBE-5CBD-4520-95E2-99F8E384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52650"/>
            <a:ext cx="2019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204128-12DA-484F-BEE9-431354AF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05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Approval workflow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E04424-866F-4953-8E26-999CAD86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5270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E2E8F0"/>
                </a:solidFill>
                <a:latin typeface="Aptos"/>
                <a:ea typeface="Aptos"/>
                <a:cs typeface="Aptos"/>
              </a:rPr>
              <a:t>Reviewer edits severity, audience, channels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3A9CBB-75D3-4FFB-B994-05E4BE5A5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76500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018203-007D-4BB3-8994-B3DDA248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52650"/>
            <a:ext cx="2019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AA245E-0770-4DBF-AC45-9F3281DDC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305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Human Map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79A40C-7C52-47DB-BE87-978930E3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55270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E2E8F0"/>
                </a:solidFill>
                <a:latin typeface="Aptos"/>
                <a:ea typeface="Aptos"/>
                <a:cs typeface="Aptos"/>
              </a:rPr>
              <a:t>Vulnerable groups, businesses, factories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0AE954-8379-4221-9679-D974E720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76500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EB7628-6B87-472D-9C10-91B0A052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52650"/>
            <a:ext cx="2019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3A7EA2-9C33-477C-A7C8-A7EA0774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305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Last mile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410832-8883-48FE-A7D6-4B0514CF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55270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E2E8F0"/>
                </a:solidFill>
                <a:latin typeface="Aptos"/>
                <a:ea typeface="Aptos"/>
                <a:cs typeface="Aptos"/>
              </a:rPr>
              <a:t>WhatsApp/SMS logs and volunteer ack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9E5288-6C18-4931-BAC8-F9BF9D7A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095750"/>
            <a:ext cx="2381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9525">
            <a:solidFill>
              <a:srgbClr val="EF444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504CF3-BB42-4BE5-B6BA-B01517D8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248150"/>
            <a:ext cx="2076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Faster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2BE437-DC56-4E63-8DFC-246F25BD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62915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E2E8F0"/>
                </a:solidFill>
                <a:latin typeface="Aptos"/>
                <a:ea typeface="Aptos"/>
                <a:cs typeface="Aptos"/>
              </a:rPr>
              <a:t>AI drafts from messy evidence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E22876-DF2C-4713-BD98-A0F23D9E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095750"/>
            <a:ext cx="2381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3BA0A2-53AE-4168-B42C-0052802F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248150"/>
            <a:ext cx="2076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Fairer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8C1FC6-AB38-4A92-9CD8-32502CEC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62915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E2E8F0"/>
                </a:solidFill>
                <a:latin typeface="Aptos"/>
                <a:ea typeface="Aptos"/>
                <a:cs typeface="Aptos"/>
              </a:rPr>
              <a:t>Priority for elders, children, patients, remote households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23E069-9E68-434A-B2D1-6A3D2B89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95750"/>
            <a:ext cx="2381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1FCCB1-672E-4486-AD7D-9586E401D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48150"/>
            <a:ext cx="2076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Traceable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D0165C-A95E-47DD-957A-B9C478214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62915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E2E8F0"/>
                </a:solidFill>
                <a:latin typeface="Aptos"/>
                <a:ea typeface="Aptos"/>
                <a:cs typeface="Aptos"/>
              </a:rPr>
              <a:t>Every alert, send, failure, and acknowledgment can be reviewed</a:t>
            </a:r>
          </a:p>
        </p:txBody>
      </p:sp>
    </p:spTree>
    <p:extLst>
      <p:ext uri="{BB962C8B-B14F-4D97-AF65-F5344CB8AC3E}">
        <p14:creationId xmlns:p14="http://schemas.microsoft.com/office/powerpoint/2010/main" val="18823030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4FA707-78FB-48A0-95C8-3397B5BF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B069B0-2E39-4285-A115-46B7F541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9C7CC1-584B-4EF6-BC34-BE17845A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BBEC24-DDC0-48CA-93CE-D8022B70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A104CC-9356-4089-9D73-AC20BEBE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CURRENT MVP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F247F1-C585-453D-945E-5EF165FB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524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What is already ready for user testing.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17751E-53D5-49E9-BED6-0ABF203FD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E2E8F0"/>
                </a:solidFill>
                <a:latin typeface="Aptos"/>
                <a:ea typeface="Aptos"/>
                <a:cs typeface="Aptos"/>
              </a:rPr>
              <a:t>The prototype is designed as a realistic workflow, with mock data localized to Laos and production connectors planned.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F38C84-E5D7-4522-958C-4F03444F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Last AI Power Disaster Warning System for Laos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E0011B-A54C-4EEB-A538-285399DB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33528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786DD5-9238-42B4-B62D-A8FBDF3C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19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29BA55-F624-45F4-ACD9-FF205A54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1240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FA6C15-D06C-48DA-B93E-D70AC013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Dashboard crisis declaration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F01921-1293-45ED-9E3C-27637D3F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24100"/>
            <a:ext cx="247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E2E8F0"/>
                </a:solidFill>
                <a:latin typeface="Aptos"/>
                <a:ea typeface="Aptos"/>
                <a:cs typeface="Aptos"/>
              </a:rPr>
              <a:t>Click square disaster-area dots and set watch, crisis, or disaster now.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297B71-47AF-4AAD-A1A4-36927D0C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47850"/>
            <a:ext cx="33528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889FB6-2906-46CF-AB45-B40B69E3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19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B936C5-B063-47E0-A86E-024E8705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1240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D51E0F-F170-49CA-9E72-81C108F3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19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Forecasting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64A30D-B415-4063-952C-E9279C93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24100"/>
            <a:ext cx="247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E2E8F0"/>
                </a:solidFill>
                <a:latin typeface="Aptos"/>
                <a:ea typeface="Aptos"/>
                <a:cs typeface="Aptos"/>
              </a:rPr>
              <a:t>Water level, flood probability, hail/storm risk, and estimated flooding start day.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771C69-EC81-4CA2-9698-F3725BD0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47850"/>
            <a:ext cx="33528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73ACAF-BAE9-4459-AC72-19C26DCE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19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3AD853-229E-4C09-892F-157FDCDD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1240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36CE4E-9B75-43E8-BFE7-79363A21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19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AI alert intake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95FB88-0DEC-4BC7-831E-59372AFB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24100"/>
            <a:ext cx="247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E2E8F0"/>
                </a:solidFill>
                <a:latin typeface="Aptos"/>
                <a:ea typeface="Aptos"/>
                <a:cs typeface="Aptos"/>
              </a:rPr>
              <a:t>OpenAI-assisted drafts from Gmail, WhatsApp, uploads, images, screenshots, and OCR.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D752ED-F8BF-497B-8A8A-CAFE27C5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6150"/>
            <a:ext cx="33528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D35C78-5860-4446-97A3-77FF06CE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57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9A5C94-92A1-4AFB-8B4C-3B491D68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7623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19C261-01CF-4F71-88D7-251B57E2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576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Human Map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7B5A0F-5F4F-4952-BD7B-B3FB47EE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62400"/>
            <a:ext cx="247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E2E8F0"/>
                </a:solidFill>
                <a:latin typeface="Aptos"/>
                <a:ea typeface="Aptos"/>
                <a:cs typeface="Aptos"/>
              </a:rPr>
              <a:t>Select disaster area; show vulnerable people plus businesses, factories, shelters, and resources.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24EE68-58D8-47E1-9FB8-53D2EB37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86150"/>
            <a:ext cx="33528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85AD23-E45B-42D3-8BE4-AAC66435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57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1AC8F0-6F63-42D0-9100-034786EC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7623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AA640B-4D0C-4AF9-B6C2-60DC9A3E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576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Contacts intelligence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FAC091-9B41-4BF9-9576-7C31CAEA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962400"/>
            <a:ext cx="247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E2E8F0"/>
                </a:solidFill>
                <a:latin typeface="Aptos"/>
                <a:ea typeface="Aptos"/>
                <a:cs typeface="Aptos"/>
              </a:rPr>
              <a:t>Upload lists and ask natural-language questions about contacts, equipment, and borrowing options.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2513CC-514D-4954-BB3A-DABF2A0E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86150"/>
            <a:ext cx="33528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C81900-5C8A-41E7-BC2A-20471B36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57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90BA848-C4D0-464D-8435-32991DA7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7623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0C90B2-6E46-401C-971C-5BBB3E80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576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Logs and acknowledgments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9958B04-BB46-4672-88A2-60599B91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962400"/>
            <a:ext cx="247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E2E8F0"/>
                </a:solidFill>
                <a:latin typeface="Aptos"/>
                <a:ea typeface="Aptos"/>
                <a:cs typeface="Aptos"/>
              </a:rPr>
              <a:t>WhatsApp/SMS notification logging, volunteer confirmation, and report dashboards.</a:t>
            </a:r>
          </a:p>
        </p:txBody>
      </p:sp>
    </p:spTree>
    <p:extLst>
      <p:ext uri="{BB962C8B-B14F-4D97-AF65-F5344CB8AC3E}">
        <p14:creationId xmlns:p14="http://schemas.microsoft.com/office/powerpoint/2010/main" val="4289164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F7187E-5B3B-4F22-9699-BBAA029E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94D446-89E5-44D9-82EE-7732AB04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3F5181-B4DB-4076-AB5E-142F5B62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76302D-8850-48BC-8BB5-E2C9D145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4AAE05-68EB-4B49-A5D6-3B930540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HUMAN MAP + LOCAL ECONOMY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6D20C3-6FF9-48DC-867F-3C671127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524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The evacuation map is also a livelihoods map.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DB85E8-8F18-4ECB-8A03-9B825380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E2E8F0"/>
                </a:solidFill>
                <a:latin typeface="Aptos"/>
                <a:ea typeface="Aptos"/>
                <a:cs typeface="Aptos"/>
              </a:rPr>
              <a:t>A disaster area can include hospitals, schools, markets, rice mills, garment workshops, warehouses, and factories that affect jobs and supply chains.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3BE367-922B-434B-8C12-101E3A72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Last AI Power Disaster Warning System for Laos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D9C6E8-E088-4180-8D88-5C27623D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436245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082F3D"/>
          </a:solidFill>
          <a:ln xmlns:a="http://schemas.openxmlformats.org/drawingml/2006/main" w="9525">
            <a:solidFill>
              <a:srgbClr val="164E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E0509F-5393-4A72-9DC1-7AAF96E7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00250"/>
            <a:ext cx="3028950" cy="2914650"/>
          </a:xfrm>
          <a:custGeom xmlns:a="http://schemas.openxmlformats.org/drawingml/2006/main">
            <a:pathLst>
              <a:path w="3028950" h="2914650">
                <a:moveTo>
                  <a:pt x="1809750" y="76200"/>
                </a:moveTo>
                <a:lnTo>
                  <a:pt x="2381250" y="552450"/>
                </a:lnTo>
                <a:lnTo>
                  <a:pt x="2095500" y="1219200"/>
                </a:lnTo>
                <a:lnTo>
                  <a:pt x="2667000" y="2000250"/>
                </a:lnTo>
                <a:lnTo>
                  <a:pt x="2209800" y="2857500"/>
                </a:lnTo>
                <a:lnTo>
                  <a:pt x="1666875" y="3257550"/>
                </a:lnTo>
                <a:lnTo>
                  <a:pt x="1009650" y="2800350"/>
                </a:lnTo>
                <a:lnTo>
                  <a:pt x="1276350" y="2038350"/>
                </a:lnTo>
                <a:lnTo>
                  <a:pt x="838200" y="1466850"/>
                </a:lnTo>
                <a:lnTo>
                  <a:pt x="1123950" y="742950"/>
                </a:lnTo>
                <a:close/>
              </a:path>
            </a:pathLst>
          </a:custGeom>
          <a:solidFill xmlns:a="http://schemas.openxmlformats.org/drawingml/2006/main">
            <a:srgbClr val="14532D"/>
          </a:solidFill>
          <a:ln xmlns:a="http://schemas.openxmlformats.org/drawingml/2006/main" w="19050">
            <a:solidFill>
              <a:srgbClr val="38BDF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F215D9-B399-4575-904C-B9360D17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857750"/>
            <a:ext cx="2647950" cy="-2095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7E8F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ECFD28-350F-453F-B67A-E14CE805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76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8754C6-20D1-48ED-8018-8489F7B4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574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Luang Prabang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45FEFF-654E-4931-B1BD-0A12921D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486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4943A6-1AAE-4282-8571-0D1F7EF56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671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Thakhek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4306E3-64DF-4255-8151-3F5B55C7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495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C30CC2-B356-42FC-BBF3-F796942C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4767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Pakse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CA5812-0641-44E0-81CA-06AA518D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52950"/>
            <a:ext cx="3943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E2E8F0"/>
                </a:solidFill>
                <a:latin typeface="Aptos"/>
                <a:ea typeface="Aptos"/>
                <a:cs typeface="Aptos"/>
              </a:rPr>
              <a:t>Hosted MVP map: self-contained Laos crisis layer</a:t>
            </a:r>
          </a:p>
          <a:p xmlns:a="http://schemas.openxmlformats.org/drawingml/2006/main">
            <a:pPr>
              <a:defRPr sz="90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E2E8F0"/>
                </a:solidFill>
                <a:latin typeface="Aptos"/>
                <a:ea typeface="Aptos"/>
                <a:cs typeface="Aptos"/>
              </a:rPr>
              <a:t>Production option: GIS + hydromet + NASA satellite overlays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DC4CAB-4BB6-48BB-994E-E4A88E91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09750"/>
            <a:ext cx="24765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D3AA75-1615-4EF3-AF7E-ED7D4FA79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09750"/>
            <a:ext cx="571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AF1856-45FE-4C22-B801-FD87081B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812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People priority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6AAD1D-0195-47C0-9BF8-420329DD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05050"/>
            <a:ext cx="21336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Elders living alone</a:t>
            </a:r>
          </a:p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Children near schools</a:t>
            </a:r>
          </a:p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Hospital patients</a:t>
            </a:r>
          </a:p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People with disabilities</a:t>
            </a:r>
          </a:p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Remote river households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92A825-5C2C-40BD-B6A9-42679F11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09750"/>
            <a:ext cx="24765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EDB028-FDA1-47A8-BD1F-5F5A7B5C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09750"/>
            <a:ext cx="571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A1A248-B8C5-4061-9151-4EC346B6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812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Business continuity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10E0E5-D0D9-4311-8D62-53A9F10F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05050"/>
            <a:ext cx="21336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Rice mill</a:t>
            </a:r>
          </a:p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Garment workshop</a:t>
            </a:r>
          </a:p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Cold storage</a:t>
            </a:r>
          </a:p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Market vendors</a:t>
            </a:r>
          </a:p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Factory transport</a:t>
            </a:r>
          </a:p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Warehouse and fuel depot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DA81A0-4390-4161-A112-8077C76C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00550"/>
            <a:ext cx="533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AA6BC4-EB30-406B-8A03-6D4D0299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00550"/>
            <a:ext cx="57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58CC3C-C43A-458A-BD25-B5760BEC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72000"/>
            <a:ext cx="499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Operational question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DB2A36-D787-40C1-881F-74FCA1D95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95850"/>
            <a:ext cx="4991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Which nearby contact can lend boats, pumps, trucks, generators, or shelter space before the flood peak arrives?</a:t>
            </a:r>
          </a:p>
        </p:txBody>
      </p:sp>
    </p:spTree>
    <p:extLst>
      <p:ext uri="{BB962C8B-B14F-4D97-AF65-F5344CB8AC3E}">
        <p14:creationId xmlns:p14="http://schemas.microsoft.com/office/powerpoint/2010/main" val="13026927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7EE319-8BD2-4084-9C62-D0EF37AA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7BF803-54FF-43FC-9E2C-317BC976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75E9B0-F062-4AF6-A3FE-B6C5CE08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BC637D-C9A2-4022-A70D-7588003E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5B31A5-0D8B-4DFA-B1F3-0BDCEC70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AI ALERT PIPELINE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A2F609-C08D-489C-87C2-49EE179A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524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From incoming evidence to a reviewed public warning.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FD0D6A-3F78-4A62-9D60-D128587D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E2E8F0"/>
                </a:solidFill>
                <a:latin typeface="Aptos"/>
                <a:ea typeface="Aptos"/>
                <a:cs typeface="Aptos"/>
              </a:rPr>
              <a:t>The AI is used for speed and synthesis; the reviewer remains responsible for the final alert.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AC6DF3-C89E-43C1-9C0B-C29E5A6AD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Last AI Power Disaster Warning System for Laos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347DBE-B454-4E46-B1CB-EF86C59C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20040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DFB9F0-4061-4048-AFA4-DDB0143F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17373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Incoming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D7FB8D-B76A-4A4D-A188-D70762486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173736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E2E8F0"/>
                </a:solidFill>
                <a:latin typeface="Aptos"/>
                <a:ea typeface="Aptos"/>
                <a:cs typeface="Aptos"/>
              </a:rPr>
              <a:t>Email, WhatsApp, docs, images, OCR, uploads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D6915C-1276-4775-8CE4-0838CD71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7010" y="2305050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BA681D-B3E6-4DAE-8941-ABE88AD3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7510" y="1981200"/>
            <a:ext cx="20040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092C96-6717-445F-A1BC-0EFD3A6B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0860" y="2133600"/>
            <a:ext cx="17373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Extract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4C8971-10B3-4150-9847-84C95642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0860" y="2381250"/>
            <a:ext cx="173736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E2E8F0"/>
                </a:solidFill>
                <a:latin typeface="Aptos"/>
                <a:ea typeface="Aptos"/>
                <a:cs typeface="Aptos"/>
              </a:rPr>
              <a:t>Location, hazard, time, severity, confidence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6E34B1-B76F-428C-B264-6B20CE53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3470" y="2305050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577765-C9D2-425F-8C6B-D7852ABA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970" y="1981200"/>
            <a:ext cx="20040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49D3F3-8908-47B7-92C6-683E7DA6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2133600"/>
            <a:ext cx="17373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Draft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B55923-D3EC-41CA-8BB0-A6771567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2381250"/>
            <a:ext cx="173736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E2E8F0"/>
                </a:solidFill>
                <a:latin typeface="Aptos"/>
                <a:ea typeface="Aptos"/>
                <a:cs typeface="Aptos"/>
              </a:rPr>
              <a:t>Plain English + Lao, recommended audiences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DC5CBD-2766-41A2-8441-EC896CF3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930" y="2305050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EFF687-11F1-4666-9A26-B4DA4C44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0430" y="1981200"/>
            <a:ext cx="20040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CCF741-962C-4D5A-940E-B53DBBCA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3780" y="2133600"/>
            <a:ext cx="17373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Approve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CC8FEC-3AF5-48D2-97EB-3A157AC9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3780" y="2381250"/>
            <a:ext cx="173736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E2E8F0"/>
                </a:solidFill>
                <a:latin typeface="Aptos"/>
                <a:ea typeface="Aptos"/>
                <a:cs typeface="Aptos"/>
              </a:rPr>
              <a:t>Reviewer edits routing and message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D792A0-2B81-4262-BB1A-391E7488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6390" y="2305050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CC707F-D523-4C19-95EE-786CAD14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6890" y="1981200"/>
            <a:ext cx="20040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78D529-1D11-46EF-AC18-7B68CE38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0240" y="2133600"/>
            <a:ext cx="17373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Publish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32482E-29E3-4706-8073-36E14899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0240" y="2381250"/>
            <a:ext cx="173736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E2E8F0"/>
                </a:solidFill>
                <a:latin typeface="Aptos"/>
                <a:ea typeface="Aptos"/>
                <a:cs typeface="Aptos"/>
              </a:rPr>
              <a:t>WhatsApp/SMS/email/in-app + logs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17EEC9-85D9-4AAE-88A1-BE1A41C3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29050"/>
            <a:ext cx="9144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435096-81F0-4648-B57B-5CA44DC0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2905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F1338E-3FFD-4D3A-9588-8CFBC5D6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00500"/>
            <a:ext cx="880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8A92AD-13B1-4C14-975B-5A730367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24350"/>
            <a:ext cx="8801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A screenshot and a WhatsApp message mention heavy rain, rising water at Thakhek, and flooded access roads. The app proposes a crisis alert, identifies likely villages, and recommends SMS/WhatsApp plus volunteer loudspeaker follow-up.</a:t>
            </a:r>
          </a:p>
        </p:txBody>
      </p:sp>
    </p:spTree>
    <p:extLst>
      <p:ext uri="{BB962C8B-B14F-4D97-AF65-F5344CB8AC3E}">
        <p14:creationId xmlns:p14="http://schemas.microsoft.com/office/powerpoint/2010/main" val="8315232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F921D5-222E-4C55-86B5-3BAC366B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01BD32-F754-4691-89EF-0200C3F5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EC335F-BFD1-4508-BCCF-D99B943D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701A12-0C6B-4A96-9205-CC81E51E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D88835-6DAE-41DE-8C41-A460C80A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BUSINESS + PUBLIC IMPACT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EFA41A-4E2F-4103-AB67-8C76567D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524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Earlier awareness creates more time to move people and assets.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B901C8-51AA-47F0-A999-9B7838E2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E2E8F0"/>
                </a:solidFill>
                <a:latin typeface="Aptos"/>
                <a:ea typeface="Aptos"/>
                <a:cs typeface="Aptos"/>
              </a:rPr>
              <a:t>The value is practical: better decisions before roads close, less duplicate calling, and stronger trust after the response.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624E24-90E1-41F1-B187-D0322F37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Last AI Power Disaster Warning System for Laos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DCCC59-A9A9-4A85-B915-8770EDCA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2381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9525">
            <a:solidFill>
              <a:srgbClr val="EF44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407B89-EE4C-4FA6-900E-962F4ECCB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2076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Hours gained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CC3E26-1FEA-43F8-86E2-E6DC22DE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E2E8F0"/>
                </a:solidFill>
                <a:latin typeface="Aptos"/>
                <a:ea typeface="Aptos"/>
                <a:cs typeface="Aptos"/>
              </a:rPr>
              <a:t>Forecast-to-action workflow can start before a formal broadcast reaches every channel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BC9FAE-183F-43E9-AD69-35A1AA65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33600"/>
            <a:ext cx="2381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771B00-AC95-4DBB-BCF2-D5C11B0F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286000"/>
            <a:ext cx="2076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Targeted support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692702-C828-49EC-9FA1-E2358B64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6670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E2E8F0"/>
                </a:solidFill>
                <a:latin typeface="Aptos"/>
                <a:ea typeface="Aptos"/>
                <a:cs typeface="Aptos"/>
              </a:rPr>
              <a:t>Prioritize elders, children, patients, schools, factories, and high-risk villages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9FBA90-A199-4675-A536-C86ECA42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33600"/>
            <a:ext cx="2381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B497C4-4DED-4570-86E8-77349FF1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86000"/>
            <a:ext cx="2076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Resource sharing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960DFC-4325-485C-B83C-83CA5390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670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E2E8F0"/>
                </a:solidFill>
                <a:latin typeface="Aptos"/>
                <a:ea typeface="Aptos"/>
                <a:cs typeface="Aptos"/>
              </a:rPr>
              <a:t>Find nearby pumps, boats, trucks, generators, shelters, and rescue contacts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C5D18F-7A78-49FD-AA72-E6D2854A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33600"/>
            <a:ext cx="2381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30D2CE-2FD7-4DB3-AEF8-67DD022F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86000"/>
            <a:ext cx="2076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Trust trail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FD8CDB-C4ED-480D-BB19-85CC2FE3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670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E2E8F0"/>
                </a:solidFill>
                <a:latin typeface="Aptos"/>
                <a:ea typeface="Aptos"/>
                <a:cs typeface="Aptos"/>
              </a:rPr>
              <a:t>Auditable approval, notification logs, failure records, and volunteer acknowledgments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E761E4-20CC-4711-BAF6-4509C45D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38600"/>
            <a:ext cx="4191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2A59C3-1D56-4C76-A1D5-7EFB5397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3860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852D93-19A4-404B-817E-EB60F591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210050"/>
            <a:ext cx="3848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Business impact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F2E8D8-EF6E-4521-967B-BFEFFFC0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33900"/>
            <a:ext cx="3848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Factories and markets can receive earlier alerts, protect workers, move inventory, coordinate transport, and offer equipment to nearby districts.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AE8384-C1E6-4FFA-B5C9-D29C8CA7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38600"/>
            <a:ext cx="4191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034539-A48F-46F0-B246-FC9554CB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3860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36BE6B-FAC5-4170-A6C7-07158F2B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10050"/>
            <a:ext cx="3848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Community impact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8E3D83-02A0-4165-A6B5-16F6E18D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33900"/>
            <a:ext cx="3848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Families can prepare before waiting for a government announcement: charge phones, move medicine, raise valuables, arrange transport, and confirm shelter routes.</a:t>
            </a:r>
          </a:p>
        </p:txBody>
      </p:sp>
    </p:spTree>
    <p:extLst>
      <p:ext uri="{BB962C8B-B14F-4D97-AF65-F5344CB8AC3E}">
        <p14:creationId xmlns:p14="http://schemas.microsoft.com/office/powerpoint/2010/main" val="11054045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3689C0-5F15-42DD-9F9E-3AE98224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594475-6AF7-4BAF-A2CD-350D8C87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5756A7-976D-43F8-9EB2-247CEA06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67A8E9-B7EA-4122-8F9B-531715B0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902351-36FE-404E-BAB8-BE26A668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PLATFORM 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44C2BE-FBAB-4CDD-8657-38848096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524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Built as a prototype workflow today, ready to connect real services tomorrow.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3F6D09-02E4-4B5F-BC3B-2197D839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E2E8F0"/>
                </a:solidFill>
                <a:latin typeface="Aptos"/>
                <a:ea typeface="Aptos"/>
                <a:cs typeface="Aptos"/>
              </a:rPr>
              <a:t>The hosted MVP uses local mock data and simulated notification logs; production deployment connects official feeds and communications providers.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5AF91F-BF8E-44EA-8030-95EB1713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Last AI Power Disaster Warning System for Laos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E6BF43-54ED-4879-9979-2822AF69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2019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73CA3D-F0A8-4AC9-BE65-44D709CB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Inputs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EEC504-9DC0-486F-A579-9F8DAE11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E2E8F0"/>
                </a:solidFill>
                <a:latin typeface="Aptos"/>
                <a:ea typeface="Aptos"/>
                <a:cs typeface="Aptos"/>
              </a:rPr>
              <a:t>Gmail, WhatsApp API, uploads, OCR, hydromet feeds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47E733-186B-4E26-B1E4-F05ED902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62200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54DA2F-98F9-4BF7-B078-C7A49558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38350"/>
            <a:ext cx="2019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4D395F-B399-47D7-8F41-51F11D06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907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AI + 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4861B3-54DF-4C63-9A36-0A740FDC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3840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E2E8F0"/>
                </a:solidFill>
                <a:latin typeface="Aptos"/>
                <a:ea typeface="Aptos"/>
                <a:cs typeface="Aptos"/>
              </a:rPr>
              <a:t>OpenAI key, extraction, PostGIS-ready model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C3F357-9824-4C07-9D2B-C12FD2099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62200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C77526-0D28-4121-A6BF-60F91481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038350"/>
            <a:ext cx="2019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27628D-E7E8-45EC-BCFC-00D658D6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907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Ops workflow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AEFA1B-AD1B-41AF-896B-44D4B454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3840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E2E8F0"/>
                </a:solidFill>
                <a:latin typeface="Aptos"/>
                <a:ea typeface="Aptos"/>
                <a:cs typeface="Aptos"/>
              </a:rPr>
              <a:t>RBAC, approval, localization, audit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DF3DC9-A48C-4091-B550-76073310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62200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CD7B69-63D7-44AC-8D9B-CE84C163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38350"/>
            <a:ext cx="2019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454BA8-48B1-42A8-9040-C34E32B9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907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Delivery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57B1F0-33F3-49A8-96A8-56535343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3840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E2E8F0"/>
                </a:solidFill>
                <a:latin typeface="Aptos"/>
                <a:ea typeface="Aptos"/>
                <a:cs typeface="Aptos"/>
              </a:rPr>
              <a:t>WhatsApp, SMS, email, subscriber app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7A6EF2-E1FB-467D-8D89-F361A888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62200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DFE793-8DBD-45B3-9FC8-980768B2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38350"/>
            <a:ext cx="2019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F5C071-8847-4FAE-A35C-CAC845BF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1907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Insight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A7532F-9007-4C29-B400-D00DE437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43840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E2E8F0"/>
                </a:solidFill>
                <a:latin typeface="Aptos"/>
                <a:ea typeface="Aptos"/>
                <a:cs typeface="Aptos"/>
              </a:rPr>
              <a:t>Reports, acknowledgments, future forecasts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E5D919-CB8B-4B6D-B4CD-EA06176BF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05250"/>
            <a:ext cx="8953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F49776-8B82-4AC1-89D9-2DAFE668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05250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022D8C-1D3F-4016-834E-92B3C659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76700"/>
            <a:ext cx="861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Map note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C221B8-E13C-4D51-8CC2-2324CE4E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00550"/>
            <a:ext cx="8610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The current hosted demo uses a resilient self-contained Laos map so it renders reliably. Production can add official GIS, hydromet stations, roads, shelters, and NASA satellite overlays.</a:t>
            </a:r>
          </a:p>
        </p:txBody>
      </p:sp>
    </p:spTree>
    <p:extLst>
      <p:ext uri="{BB962C8B-B14F-4D97-AF65-F5344CB8AC3E}">
        <p14:creationId xmlns:p14="http://schemas.microsoft.com/office/powerpoint/2010/main" val="20556413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4FEC9F-3BAA-4CA6-A482-7F19B0BF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4C09B2-1922-4E50-8D30-423EEC02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9325E0-62BE-4EA6-AEBF-E4416206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ED0539-9B27-40E7-B4D8-E8BAA0B6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DD67E7-795B-4AB6-81AA-0A1CEA27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DEMO SCENARIOS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CA7CC0-2475-428F-8818-0D0CAC0D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524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Different users see the same crisis from their own responsibility.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E3472D-062F-4ABF-90B8-C9018C8A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E2E8F0"/>
                </a:solidFill>
                <a:latin typeface="Aptos"/>
                <a:ea typeface="Aptos"/>
                <a:cs typeface="Aptos"/>
              </a:rPr>
              <a:t>Use these scenes for a recorded walkthrough or a live click-through.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A131F7-26C9-4B04-8D08-A7EF67D4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Last AI Power Disaster Warning System for Laos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2F006C-09F9-4C81-8E6E-8757F7C1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33147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A6C865-9507-4E82-9611-7C6CF7FD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00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E03919-B9C6-4752-81B0-B504F7FA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10502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6423E7-EFF2-4CCC-972E-FF0A1F46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0025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Meteorology officer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550051-A9BB-49ED-B770-9E2C1A9E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05050"/>
            <a:ext cx="2438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E2E8F0"/>
                </a:solidFill>
                <a:latin typeface="Aptos"/>
                <a:ea typeface="Aptos"/>
                <a:cs typeface="Aptos"/>
              </a:rPr>
              <a:t>Click Thakhek square marker, review forecast, set disaster now, start announcement.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8E925F-D644-4C87-B5FE-43A8964E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28800"/>
            <a:ext cx="33147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10C0D5-F870-42FB-B3A1-8BBBF612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00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E41333-B0D3-49AF-AA86-01A46480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10502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B1F326-380B-42EA-A08F-CF7395FD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00025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Alert reviewer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534861-2E57-4099-93FD-EDB8BD20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05050"/>
            <a:ext cx="2438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E2E8F0"/>
                </a:solidFill>
                <a:latin typeface="Aptos"/>
                <a:ea typeface="Aptos"/>
                <a:cs typeface="Aptos"/>
              </a:rPr>
              <a:t>Open AI-generated draft, adjust Lao/English text, route to affected villages and businesses, approve.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7466C9-7ABC-40AD-82F4-57A9F3AA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28800"/>
            <a:ext cx="33147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51A985-93DD-4480-B187-77A04988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00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6C5A01-3295-47D0-958A-3F17EFAF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10502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B710E1-92F2-4AEF-8978-26B3BE88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0025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Response desk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2C00A0-08DE-490F-8C93-DB69C3B3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05050"/>
            <a:ext cx="2438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E2E8F0"/>
                </a:solidFill>
                <a:latin typeface="Aptos"/>
                <a:ea typeface="Aptos"/>
                <a:cs typeface="Aptos"/>
              </a:rPr>
              <a:t>Check WhatsApp/SMS logs, failed deliveries, and where volunteers still need to confirm.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891DA3-D01F-4D80-987F-D6836481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33147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9FE866-1C25-4342-9D3F-AB9D9468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62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4C8F01-5720-40A0-A27B-69437FD6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6712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0828DD-A8A4-446D-AB4E-2CD67DC5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6235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Contact coordinator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01FD0C-DCEE-4E49-9BF2-441D5276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67150"/>
            <a:ext cx="2438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E2E8F0"/>
                </a:solidFill>
                <a:latin typeface="Aptos"/>
                <a:ea typeface="Aptos"/>
                <a:cs typeface="Aptos"/>
              </a:rPr>
              <a:t>Upload contact list and ask who can lend pumps, generators, boats, or trucks nearby.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030382-DBC2-438B-A399-3F7CCBEC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90900"/>
            <a:ext cx="33147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1249D7-D57F-455A-945F-08DD9074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62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8A7F19-DF4D-44E6-99BE-E5D8022D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66712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4CBD7C-1CB6-4E57-A098-0379B5F1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56235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Volunteer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AB6FAB-1ECF-4E8A-89D6-B9040428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867150"/>
            <a:ext cx="2438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E2E8F0"/>
                </a:solidFill>
                <a:latin typeface="Aptos"/>
                <a:ea typeface="Aptos"/>
                <a:cs typeface="Aptos"/>
              </a:rPr>
              <a:t>Acknowledge loudspeaker notice, door-to-door visit, shelter setup, or unresolved evacuation gap.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9F9713-6741-4D4B-B1FE-6F71D69B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90900"/>
            <a:ext cx="33147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03412D-B20D-4890-8F2B-021FA88F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62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03D406-21E1-414F-89F9-A284D434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66712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53B1A4-3487-4649-A858-2F89555B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6235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Subscriber/community member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0C0E0B-56F6-4A3C-B325-C3E196857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867150"/>
            <a:ext cx="2438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E2E8F0"/>
                </a:solidFill>
                <a:latin typeface="Aptos"/>
                <a:ea typeface="Aptos"/>
                <a:cs typeface="Aptos"/>
              </a:rPr>
              <a:t>Future app receives WhatsApp/SMS alert early enough to prepare before the water reaches home.</a:t>
            </a:r>
          </a:p>
        </p:txBody>
      </p:sp>
    </p:spTree>
    <p:extLst>
      <p:ext uri="{BB962C8B-B14F-4D97-AF65-F5344CB8AC3E}">
        <p14:creationId xmlns:p14="http://schemas.microsoft.com/office/powerpoint/2010/main" val="6935985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0FE3E6-7F49-444C-BB77-3F30384C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EE02D3-5DF6-4D67-A7E0-FD11B7D8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1F16CC-C6FB-4D65-B375-CA53495D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F2B9DF-2DDA-4210-8B19-00890E35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40780A-111A-4BB7-9C0F-089180FE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LIMITATIONS + NEXT UPDATES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6CA865-8E8B-42CF-B0B4-1BD70CD1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524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The next phase moves from convincing prototype to operational service.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DAE7AE-D7B4-4A8F-A075-454DDBC0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E2E8F0"/>
                </a:solidFill>
                <a:latin typeface="Aptos"/>
                <a:ea typeface="Aptos"/>
                <a:cs typeface="Aptos"/>
              </a:rPr>
              <a:t>The main work is integration, security, data quality, and stronger predictive intelligence.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108B0A-728C-4ED8-BF34-0553E9CE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Last AI Power Disaster Warning System for Laos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C11EB3-9D64-416E-BD6A-EC994946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81200"/>
            <a:ext cx="31813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254CD0-2622-4106-AB75-472BAB1F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8120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9556BE-4F27-4BD0-9DFC-AC1ED51F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52650"/>
            <a:ext cx="283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Known limitations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1768DF-D26C-48A4-812B-41CEE59D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76500"/>
            <a:ext cx="28384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Hosted demo simulates real sends</a:t>
            </a:r>
          </a:p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Provider credentials not connected</a:t>
            </a:r>
          </a:p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Forecasting uses mock data</a:t>
            </a:r>
          </a:p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OCR/contact extraction needs validation</a:t>
            </a:r>
          </a:p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Production security review required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D3F0F5-68A6-44FE-8267-0A1DEEBA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81200"/>
            <a:ext cx="31813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CE114D-3839-498E-8A37-85090248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8120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45CF8A-00E6-4D6B-8E40-7218D01A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52650"/>
            <a:ext cx="283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Next features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2AC5DE-651C-482F-9D6B-2866605C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76500"/>
            <a:ext cx="28384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Subscriber alert app</a:t>
            </a:r>
          </a:p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Live WhatsApp/SMS/Gmail connectors</a:t>
            </a:r>
          </a:p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AI contact recommendation</a:t>
            </a:r>
          </a:p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AI water-level and flood prediction</a:t>
            </a:r>
          </a:p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NASA/GIS satellite and road layers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2C783F-BC2B-4497-A40E-11756106E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81200"/>
            <a:ext cx="31813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517F5B-6FEB-4953-9549-0D62C03E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8120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99AE4E-C119-481E-8987-D83ECD34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52650"/>
            <a:ext cx="283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Operational readiness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840978-BB46-4E01-9A8E-B0BEDDCE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76500"/>
            <a:ext cx="28384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Official hydromet feeds</a:t>
            </a:r>
          </a:p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Data-sharing agreements</a:t>
            </a:r>
          </a:p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Role-based access, SSO, audit logs</a:t>
            </a:r>
          </a:p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Consent and privacy policy</a:t>
            </a:r>
          </a:p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Training and response playbooks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C3BA77-D0D3-4649-A008-A9FC2E35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010150"/>
            <a:ext cx="9105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The goal is not to replace government announcement. The goal is to help people prepare earlier, with official review and community proof.</a:t>
            </a:r>
          </a:p>
        </p:txBody>
      </p:sp>
    </p:spTree>
    <p:extLst>
      <p:ext uri="{BB962C8B-B14F-4D97-AF65-F5344CB8AC3E}">
        <p14:creationId xmlns:p14="http://schemas.microsoft.com/office/powerpoint/2010/main" val="20582091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BE56CA-BE8E-4367-BDAB-49E3E214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4308DD-9A65-48A1-BE21-3814983C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0F50DC-79C2-4047-ADE3-7EFE7E7B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F3B1BF-28E9-48F6-8B30-E5835532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F9A8DB-12F3-4A51-91CC-34C3A62B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CLOSE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03D164-8D46-49BD-B000-39B6BD02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524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Success is not a sent message. Success is a family already moving before the road disappears.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8BE09B-7288-449B-B4A8-A3926057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E2E8F0"/>
                </a:solidFill>
                <a:latin typeface="Aptos"/>
                <a:ea typeface="Aptos"/>
                <a:cs typeface="Aptos"/>
              </a:rPr>
              <a:t>The platform turns warning data into reviewed action, and reviewed action into proof that communities were reached.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464772-6D17-4D54-85EA-699CCCC9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Last AI Power Disaster Warning System for Laos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89D4C7-70D7-4AFE-B66B-DC723387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09800"/>
            <a:ext cx="99822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2A0B12"/>
          </a:solidFill>
          <a:ln xmlns:a="http://schemas.openxmlformats.org/drawingml/2006/main" w="9525">
            <a:solidFill>
              <a:srgbClr val="EF44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D21B69-4F7F-4C17-B09A-E946F9E3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What we need next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CE9B77-DCCD-4BF7-9716-91622DEE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4800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E2E8F0"/>
                </a:solidFill>
                <a:latin typeface="Aptos"/>
                <a:ea typeface="Aptos"/>
                <a:cs typeface="Aptos"/>
              </a:rPr>
              <a:t>1. Validate the workflow with district responders and meteorology officers</a:t>
            </a:r>
          </a:p>
          <a:p xmlns:a="http://schemas.openxmlformats.org/drawingml/2006/main">
            <a:pPr>
              <a:defRPr sz="13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E2E8F0"/>
                </a:solidFill>
                <a:latin typeface="Aptos"/>
                <a:ea typeface="Aptos"/>
                <a:cs typeface="Aptos"/>
              </a:rPr>
              <a:t>2. Connect live communication providers and official data feeds</a:t>
            </a:r>
          </a:p>
          <a:p xmlns:a="http://schemas.openxmlformats.org/drawingml/2006/main">
            <a:pPr>
              <a:defRPr sz="13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E2E8F0"/>
                </a:solidFill>
                <a:latin typeface="Aptos"/>
                <a:ea typeface="Aptos"/>
                <a:cs typeface="Aptos"/>
              </a:rPr>
              <a:t>3. Pilot the subscriber alert route in one high-risk area</a:t>
            </a:r>
          </a:p>
          <a:p xmlns:a="http://schemas.openxmlformats.org/drawingml/2006/main">
            <a:pPr>
              <a:defRPr sz="13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E2E8F0"/>
                </a:solidFill>
                <a:latin typeface="Aptos"/>
                <a:ea typeface="Aptos"/>
                <a:cs typeface="Aptos"/>
              </a:rPr>
              <a:t>4. Measure time saved, delivery success, and acknowledgment coverage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7D9DA2-411F-42BE-B281-FB5AB516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62500"/>
            <a:ext cx="7505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Demo: hosted web app + screen recording + test scripts in GitHub</a:t>
            </a:r>
          </a:p>
        </p:txBody>
      </p:sp>
    </p:spTree>
    <p:extLst>
      <p:ext uri="{BB962C8B-B14F-4D97-AF65-F5344CB8AC3E}">
        <p14:creationId xmlns:p14="http://schemas.microsoft.com/office/powerpoint/2010/main" val="18793009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2026-06-17T07:38:04.6400000Z</dcterms:created>
  <dcterms:modified xsi:type="dcterms:W3CDTF">2026-06-17T07:38:04.6400000Z</dcterms:modified>
</coreProperties>
</file>